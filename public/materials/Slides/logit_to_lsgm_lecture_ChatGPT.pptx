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7498080" y="-365760"/>
            <a:ext cx="5486400" cy="5486400"/>
          </a:xfrm>
          <a:prstGeom prst="arc">
            <a:avLst/>
          </a:prstGeom>
          <a:solidFill>
            <a:srgbClr val="2B9C9C">
              <a:alpha val="90000"/>
            </a:srgbClr>
          </a:solidFill>
          <a:ln w="12700">
            <a:solidFill>
              <a:srgbClr val="2B9C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600000">
            <a:off x="-1371600" y="4572000"/>
            <a:ext cx="3657600" cy="3657600"/>
          </a:xfrm>
          <a:prstGeom prst="arc">
            <a:avLst/>
          </a:prstGeom>
          <a:solidFill>
            <a:srgbClr val="E39C48">
              <a:alpha val="85000"/>
            </a:srgbClr>
          </a:solidFill>
          <a:ln w="12700">
            <a:solidFill>
              <a:srgbClr val="E39C4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143000"/>
            <a:ext cx="8961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Logistic Regression to the Local Structure Graph Model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694944" y="27432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7E1EA"/>
                </a:solidFill>
              </a:rPr>
              <a:t>Binary dependent variables, maximum likelihood, and dependence among network edges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51937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DE8E6"/>
                </a:solidFill>
              </a:rPr>
              <a:t>Advanced Network Analysis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55046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1EA"/>
                </a:solidFill>
              </a:rPr>
              <a:t>Olga Chyzh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One conceptual arc: from a binary outcome to a dependent binary outcome.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04088" y="1188720"/>
            <a:ext cx="329184" cy="329184"/>
          </a:xfrm>
          <a:prstGeom prst="ellipse">
            <a:avLst/>
          </a:prstGeom>
          <a:solidFill>
            <a:srgbClr val="2C5D8A"/>
          </a:solidFill>
          <a:ln w="12700">
            <a:solidFill>
              <a:srgbClr val="2C5D8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271016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07008" y="12344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Why logit?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931920" y="1243584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2606D"/>
                </a:solidFill>
              </a:rPr>
              <a:t>Binary outcomes need probabilities, not fitted lines.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68680" y="1517904"/>
            <a:ext cx="0" cy="475488"/>
          </a:xfrm>
          <a:prstGeom prst="line">
            <a:avLst/>
          </a:prstGeom>
          <a:noFill/>
          <a:ln w="13970">
            <a:solidFill>
              <a:srgbClr val="2C5D8A">
                <a:alpha val="8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" y="2039112"/>
            <a:ext cx="329184" cy="329184"/>
          </a:xfrm>
          <a:prstGeom prst="ellipse">
            <a:avLst/>
          </a:prstGeom>
          <a:solidFill>
            <a:srgbClr val="2C5D8A"/>
          </a:solidFill>
          <a:ln w="12700">
            <a:solidFill>
              <a:srgbClr val="2C5D8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2121408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07008" y="20848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How is logit estimated?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931920" y="2093976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2606D"/>
                </a:solidFill>
              </a:rPr>
              <a:t>Likelihood turns guesses into fitted coefficients.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68680" y="2368296"/>
            <a:ext cx="0" cy="475488"/>
          </a:xfrm>
          <a:prstGeom prst="line">
            <a:avLst/>
          </a:prstGeom>
          <a:noFill/>
          <a:ln w="13970">
            <a:solidFill>
              <a:srgbClr val="2C5D8A">
                <a:alpha val="8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" y="2889504"/>
            <a:ext cx="329184" cy="329184"/>
          </a:xfrm>
          <a:prstGeom prst="ellipse">
            <a:avLst/>
          </a:prstGeom>
          <a:solidFill>
            <a:srgbClr val="2C5D8A"/>
          </a:solidFill>
          <a:ln w="12700">
            <a:solidFill>
              <a:srgbClr val="2C5D8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2971800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07008" y="293522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How do we interpret it?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931920" y="2944368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2606D"/>
                </a:solidFill>
              </a:rPr>
              <a:t>Translate log-odds back into predicted probabilities.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68680" y="3218688"/>
            <a:ext cx="0" cy="475488"/>
          </a:xfrm>
          <a:prstGeom prst="line">
            <a:avLst/>
          </a:prstGeom>
          <a:noFill/>
          <a:ln w="13970">
            <a:solidFill>
              <a:srgbClr val="2B9C9C">
                <a:alpha val="8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4088" y="3739896"/>
            <a:ext cx="329184" cy="329184"/>
          </a:xfrm>
          <a:prstGeom prst="ellipse">
            <a:avLst/>
          </a:prstGeom>
          <a:solidFill>
            <a:srgbClr val="2B9C9C"/>
          </a:solidFill>
          <a:ln w="12700">
            <a:solidFill>
              <a:srgbClr val="2B9C9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382219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07008" y="378561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Why LSGM?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3931920" y="379476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2606D"/>
                </a:solidFill>
              </a:rPr>
              <a:t>Network edges may be binary outcomes that depend on nearby edges.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868680" y="4069080"/>
            <a:ext cx="0" cy="475488"/>
          </a:xfrm>
          <a:prstGeom prst="line">
            <a:avLst/>
          </a:prstGeom>
          <a:noFill/>
          <a:ln w="13970">
            <a:solidFill>
              <a:srgbClr val="2B9C9C">
                <a:alpha val="8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" y="4590288"/>
            <a:ext cx="329184" cy="329184"/>
          </a:xfrm>
          <a:prstGeom prst="ellipse">
            <a:avLst/>
          </a:prstGeom>
          <a:solidFill>
            <a:srgbClr val="2B9C9C"/>
          </a:solidFill>
          <a:ln w="12700">
            <a:solidFill>
              <a:srgbClr val="2B9C9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" y="467258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07008" y="46360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How is LSGM estimated?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3931920" y="4645152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2606D"/>
                </a:solidFill>
              </a:rPr>
              <a:t>A pseudo-likelihood extends logit with a local dependence term.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8046720" y="-594360"/>
            <a:ext cx="5029200" cy="5029200"/>
          </a:xfrm>
          <a:prstGeom prst="arc">
            <a:avLst/>
          </a:prstGeom>
          <a:solidFill>
            <a:srgbClr val="2B9C9C">
              <a:alpha val="85000"/>
            </a:srgbClr>
          </a:solidFill>
          <a:ln w="12700">
            <a:solidFill>
              <a:srgbClr val="2B9C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000000">
            <a:off x="-1645920" y="4389120"/>
            <a:ext cx="4297680" cy="4297680"/>
          </a:xfrm>
          <a:prstGeom prst="arc">
            <a:avLst/>
          </a:prstGeom>
          <a:solidFill>
            <a:srgbClr val="E39C48">
              <a:alpha val="80000"/>
            </a:srgbClr>
          </a:solidFill>
          <a:ln w="12700">
            <a:solidFill>
              <a:srgbClr val="E39C4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34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BDE8E6"/>
                </a:solidFill>
              </a:rPr>
              <a:t>PART 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627632"/>
            <a:ext cx="923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Logistic regression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27432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7E1EA"/>
                </a:solidFill>
              </a:rPr>
              <a:t>A model for probabilities when the dependent variable is 0/1.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not just use OLS?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The linear probability model is simple, but it asks a line to do a curve’s job.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4709160"/>
            <a:ext cx="4754880" cy="0"/>
          </a:xfrm>
          <a:prstGeom prst="line">
            <a:avLst/>
          </a:prstGeom>
          <a:noFill/>
          <a:ln w="1651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77240" y="4709160"/>
            <a:ext cx="0" cy="-3383280"/>
          </a:xfrm>
          <a:prstGeom prst="line">
            <a:avLst/>
          </a:prstGeom>
          <a:noFill/>
          <a:ln w="1651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617720" y="4818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</a:rPr>
              <a:t>X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 rot="16200000">
            <a:off x="521208" y="12344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</a:rPr>
              <a:t>P(Y=1)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68680" y="4526280"/>
            <a:ext cx="4434840" cy="-3246120"/>
          </a:xfrm>
          <a:prstGeom prst="line">
            <a:avLst/>
          </a:prstGeom>
          <a:noFill/>
          <a:ln w="25400">
            <a:solidFill>
              <a:srgbClr val="B64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5548" y="3790188"/>
            <a:ext cx="100584" cy="100584"/>
          </a:xfrm>
          <a:prstGeom prst="ellipse">
            <a:avLst/>
          </a:prstGeom>
          <a:solidFill>
            <a:srgbClr val="2C5D8A"/>
          </a:solidFill>
          <a:ln w="12700">
            <a:solidFill>
              <a:srgbClr val="2C5D8A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78508" y="3515868"/>
            <a:ext cx="100584" cy="100584"/>
          </a:xfrm>
          <a:prstGeom prst="ellipse">
            <a:avLst/>
          </a:prstGeom>
          <a:solidFill>
            <a:srgbClr val="2C5D8A"/>
          </a:solidFill>
          <a:ln w="12700">
            <a:solidFill>
              <a:srgbClr val="2C5D8A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01468" y="3241548"/>
            <a:ext cx="100584" cy="100584"/>
          </a:xfrm>
          <a:prstGeom prst="ellipse">
            <a:avLst/>
          </a:prstGeom>
          <a:solidFill>
            <a:srgbClr val="2C5D8A"/>
          </a:solidFill>
          <a:ln w="12700">
            <a:solidFill>
              <a:srgbClr val="2C5D8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5548" y="4571086"/>
            <a:ext cx="100584" cy="100584"/>
          </a:xfrm>
          <a:prstGeom prst="ellipse">
            <a:avLst/>
          </a:prstGeom>
          <a:solidFill>
            <a:srgbClr val="2B9C9C"/>
          </a:solidFill>
          <a:ln w="12700">
            <a:solidFill>
              <a:srgbClr val="2B9C9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87068" y="4132174"/>
            <a:ext cx="100584" cy="100584"/>
          </a:xfrm>
          <a:prstGeom prst="ellipse">
            <a:avLst/>
          </a:prstGeom>
          <a:solidFill>
            <a:srgbClr val="2B9C9C"/>
          </a:solidFill>
          <a:ln w="12700">
            <a:solidFill>
              <a:srgbClr val="2B9C9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18588" y="3488436"/>
            <a:ext cx="100584" cy="100584"/>
          </a:xfrm>
          <a:prstGeom prst="ellipse">
            <a:avLst/>
          </a:prstGeom>
          <a:solidFill>
            <a:srgbClr val="2B9C9C"/>
          </a:solidFill>
          <a:ln w="12700">
            <a:solidFill>
              <a:srgbClr val="2B9C9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50108" y="2552090"/>
            <a:ext cx="100584" cy="100584"/>
          </a:xfrm>
          <a:prstGeom prst="ellipse">
            <a:avLst/>
          </a:prstGeom>
          <a:solidFill>
            <a:srgbClr val="2B9C9C"/>
          </a:solidFill>
          <a:ln w="12700">
            <a:solidFill>
              <a:srgbClr val="2B9C9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81628" y="1966874"/>
            <a:ext cx="100584" cy="100584"/>
          </a:xfrm>
          <a:prstGeom prst="ellipse">
            <a:avLst/>
          </a:prstGeom>
          <a:solidFill>
            <a:srgbClr val="2B9C9C"/>
          </a:solidFill>
          <a:ln w="12700">
            <a:solidFill>
              <a:srgbClr val="2B9C9C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3148" y="1791310"/>
            <a:ext cx="100584" cy="100584"/>
          </a:xfrm>
          <a:prstGeom prst="ellipse">
            <a:avLst/>
          </a:prstGeom>
          <a:solidFill>
            <a:srgbClr val="2B9C9C"/>
          </a:solidFill>
          <a:ln w="12700">
            <a:solidFill>
              <a:srgbClr val="2B9C9C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983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64A4A"/>
                </a:solidFill>
              </a:rPr>
              <a:t>OLS line can predict below 0 or above 1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0" y="1188720"/>
            <a:ext cx="4389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65392" y="1307592"/>
            <a:ext cx="405993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Yᵢ ∈ {0,1}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E(Yᵢ | Xᵢ) = P(Yᵢ = 1 | Xᵢ)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400800" y="2880360"/>
            <a:ext cx="4389120" cy="868680"/>
          </a:xfrm>
          <a:prstGeom prst="roundRect">
            <a:avLst>
              <a:gd name="adj" fmla="val 6316"/>
            </a:avLst>
          </a:prstGeom>
          <a:solidFill>
            <a:srgbClr val="BDE8E6">
              <a:alpha val="90000"/>
            </a:srgbClr>
          </a:solidFill>
          <a:ln w="12700">
            <a:solidFill>
              <a:srgbClr val="BDE8E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65392" y="3017520"/>
            <a:ext cx="4059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We want a fitted value that is always a probability: 0 ≤ pᵢ ≤ 1.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0" y="4160520"/>
            <a:ext cx="43891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Logit constrains predictions to [0,1].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It also reflects heteroskedastic errors implied by binary outcomes.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Binary dependent variable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Example: aspirin and heart attacks.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261872"/>
            <a:ext cx="479145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Heart Attackᵢ = β₀ + β₁ Aspirinᵢ + uᵢ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4754880" cy="1280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Problem: the outcome only takes the values 0 and 1.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model the probability of a heart attack, not the raw value of the outcome with a straight line.</a:t>
            </a:r>
            <a:endParaRPr lang="en-US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170432"/>
          <a:ext cx="4754880" cy="132588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188720"/>
                <a:gridCol w="1188720"/>
              </a:tblGrid>
              <a:tr h="3314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Heart attack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heart attack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Aspirin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104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10,933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11,037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Placebo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189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10,845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11,034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293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21,778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22,071</a:t>
                      </a:r>
                      <a:endParaRPr lang="en-US" sz="11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446520" y="3063240"/>
            <a:ext cx="4754880" cy="822960"/>
          </a:xfrm>
          <a:prstGeom prst="roundRect">
            <a:avLst>
              <a:gd name="adj" fmla="val 6667"/>
            </a:avLst>
          </a:prstGeom>
          <a:solidFill>
            <a:srgbClr val="E39C48">
              <a:alpha val="80000"/>
            </a:srgbClr>
          </a:solidFill>
          <a:ln w="12700">
            <a:solidFill>
              <a:srgbClr val="E39C48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11112" y="3200400"/>
            <a:ext cx="4425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A binary table is a probability story: how often does Y=1 occur under different values of X?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Probabilities, odds, and log-odds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Logit works by mapping probabilities onto the whole real line.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325880"/>
            <a:ext cx="3154680" cy="1828800"/>
          </a:xfrm>
          <a:prstGeom prst="roundRect">
            <a:avLst>
              <a:gd name="adj" fmla="val 4000"/>
            </a:avLst>
          </a:prstGeom>
          <a:solidFill>
            <a:srgbClr val="BDE8E6"/>
          </a:solidFill>
          <a:ln w="12700">
            <a:solidFill>
              <a:srgbClr val="BDE8E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572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Probability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78408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 = P(Y=1|X)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78408" y="2633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2606D"/>
                </a:solidFill>
              </a:rPr>
              <a:t>0 to 1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023360" y="1938528"/>
            <a:ext cx="320040" cy="411480"/>
          </a:xfrm>
          <a:prstGeom prst="chevron">
            <a:avLst/>
          </a:prstGeom>
          <a:solidFill>
            <a:srgbClr val="172033">
              <a:alpha val="90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1325880"/>
            <a:ext cx="3154680" cy="1828800"/>
          </a:xfrm>
          <a:prstGeom prst="roundRect">
            <a:avLst>
              <a:gd name="adj" fmla="val 4000"/>
            </a:avLst>
          </a:prstGeom>
          <a:solidFill>
            <a:srgbClr val="F4EFE5"/>
          </a:solidFill>
          <a:ln w="12700">
            <a:solidFill>
              <a:srgbClr val="F4EFE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27448" y="1572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Odds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27448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 = p / (1 − p)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27448" y="2633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2606D"/>
                </a:solidFill>
              </a:rPr>
              <a:t>0 to ∞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72400" y="1938528"/>
            <a:ext cx="320040" cy="411480"/>
          </a:xfrm>
          <a:prstGeom prst="chevron">
            <a:avLst/>
          </a:prstGeom>
          <a:solidFill>
            <a:srgbClr val="172033">
              <a:alpha val="90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5320" y="1325880"/>
            <a:ext cx="3154680" cy="1828800"/>
          </a:xfrm>
          <a:prstGeom prst="roundRect">
            <a:avLst>
              <a:gd name="adj" fmla="val 4000"/>
            </a:avLst>
          </a:prstGeom>
          <a:solidFill>
            <a:srgbClr val="BDE8E6"/>
          </a:solidFill>
          <a:ln w="12700">
            <a:solidFill>
              <a:srgbClr val="BDE8E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76488" y="1572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Log-odds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76488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log(O) = log[p/(1−p)]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76488" y="2633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2606D"/>
                </a:solidFill>
              </a:rPr>
              <a:t>−∞ to ∞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828800" y="3977640"/>
            <a:ext cx="84582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93392" y="4096512"/>
            <a:ext cx="81290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 = O/(1+O)        and        O = p/(1−p)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874520" y="4892040"/>
            <a:ext cx="841248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coefficient model is linear in log-odds, but we usually interpret it after converting back to probabilities.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Odds are not probabilities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The two are close only when events are rare.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7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188720"/>
          <a:ext cx="10607040" cy="13716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  <a:gridCol w="2651760"/>
                <a:gridCol w="2651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2033"/>
                          </a:solidFill>
                        </a:rPr>
                        <a:t>Group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2033"/>
                          </a:solidFill>
                        </a:rPr>
                        <a:t>Probability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2033"/>
                          </a:solidFill>
                        </a:rPr>
                        <a:t>Odds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2033"/>
                          </a:solidFill>
                        </a:rPr>
                        <a:t>Log-odds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</a:rPr>
                        <a:t>Aspirin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</a:rPr>
                        <a:t>104 / 11,037 = .0094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</a:rPr>
                        <a:t>104 / 10,933 = .0095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</a:rPr>
                        <a:t>log(.0095) = −4.66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</a:rPr>
                        <a:t>Placebo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</a:rPr>
                        <a:t>189 / 11,034 = .0171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</a:rPr>
                        <a:t>189 / 10,845 = .0174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</a:rPr>
                        <a:t>log(.0174) = −4.05</a:t>
                      </a:r>
                      <a:endParaRPr lang="en-US" sz="13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1051560" y="3246120"/>
            <a:ext cx="44805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16152" y="3364992"/>
            <a:ext cx="41513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Odds ratio = .0095 / .0174 ≈ .55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6172200" y="3063240"/>
            <a:ext cx="4480560" cy="914400"/>
          </a:xfrm>
          <a:prstGeom prst="roundRect">
            <a:avLst>
              <a:gd name="adj" fmla="val 6000"/>
            </a:avLst>
          </a:prstGeom>
          <a:solidFill>
            <a:srgbClr val="BDE8E6">
              <a:alpha val="90000"/>
            </a:srgbClr>
          </a:solidFill>
          <a:ln w="12700">
            <a:solidFill>
              <a:srgbClr val="BDE8E6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36792" y="3200400"/>
            <a:ext cx="4151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Interpretation: the odds of heart attack are about 45% lower in the aspirin group than in the placebo group.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97280" y="4846320"/>
            <a:ext cx="96926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Warning: coefficients in a logit model are changes in log-odds. That is usually not the quantity we want students to leave with.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logistic curve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A linear index is transformed into a probability.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5074920"/>
            <a:ext cx="5669280" cy="0"/>
          </a:xfrm>
          <a:prstGeom prst="line">
            <a:avLst/>
          </a:prstGeom>
          <a:noFill/>
          <a:ln w="1651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22960" y="5074920"/>
            <a:ext cx="0" cy="-3840480"/>
          </a:xfrm>
          <a:prstGeom prst="line">
            <a:avLst/>
          </a:prstGeom>
          <a:noFill/>
          <a:ln w="1651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577840" y="51846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</a:rPr>
              <a:t>Xβ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 rot="16200000">
            <a:off x="566928" y="11430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</a:rPr>
              <a:t>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68680" y="4837841"/>
            <a:ext cx="80176" cy="-1606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8856" y="4836236"/>
            <a:ext cx="80176" cy="-1909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9031" y="4834327"/>
            <a:ext cx="80176" cy="-2269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9207" y="4832058"/>
            <a:ext cx="80176" cy="-2696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9383" y="4829362"/>
            <a:ext cx="80176" cy="-3202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69558" y="4826160"/>
            <a:ext cx="80176" cy="-3803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49734" y="4822358"/>
            <a:ext cx="80176" cy="-4514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29910" y="4817844"/>
            <a:ext cx="80176" cy="-5356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10085" y="4812488"/>
            <a:ext cx="80176" cy="-6351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90261" y="4806137"/>
            <a:ext cx="80176" cy="-7527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70437" y="4798610"/>
            <a:ext cx="80176" cy="-8913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50612" y="4789697"/>
            <a:ext cx="80176" cy="-10545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30788" y="4779152"/>
            <a:ext cx="80176" cy="-12462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10963" y="4766690"/>
            <a:ext cx="80176" cy="-14710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91139" y="4751980"/>
            <a:ext cx="80176" cy="-17337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71315" y="4734643"/>
            <a:ext cx="80176" cy="-20396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51490" y="4714247"/>
            <a:ext cx="80176" cy="-23946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31666" y="4690301"/>
            <a:ext cx="80176" cy="-28045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1842" y="4662256"/>
            <a:ext cx="80176" cy="-32753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92017" y="4629503"/>
            <a:ext cx="80176" cy="-38123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72193" y="4591380"/>
            <a:ext cx="80176" cy="-44202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52369" y="4547178"/>
            <a:ext cx="80176" cy="-51020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32544" y="4496158"/>
            <a:ext cx="80176" cy="-58585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12720" y="4437573"/>
            <a:ext cx="80176" cy="-66873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92896" y="4370700"/>
            <a:ext cx="80176" cy="-75816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73071" y="4294884"/>
            <a:ext cx="80176" cy="-85296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53247" y="4209588"/>
            <a:ext cx="80176" cy="-95134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33423" y="4114454"/>
            <a:ext cx="80176" cy="-105087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113598" y="4009367"/>
            <a:ext cx="80176" cy="-114852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93774" y="3894515"/>
            <a:ext cx="80176" cy="-124071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73950" y="3770444"/>
            <a:ext cx="80176" cy="-132356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54125" y="3638089"/>
            <a:ext cx="80176" cy="-139314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34301" y="3498775"/>
            <a:ext cx="80176" cy="-144584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14477" y="3354191"/>
            <a:ext cx="80176" cy="-147874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594652" y="3206317"/>
            <a:ext cx="80176" cy="-148993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74828" y="3057323"/>
            <a:ext cx="80176" cy="-147874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55003" y="2909449"/>
            <a:ext cx="80176" cy="-144584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835179" y="2764865"/>
            <a:ext cx="80176" cy="-139314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915355" y="2625551"/>
            <a:ext cx="80176" cy="-132356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995530" y="2493196"/>
            <a:ext cx="80176" cy="-124071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075706" y="2369125"/>
            <a:ext cx="80176" cy="-114852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155882" y="2254273"/>
            <a:ext cx="80176" cy="-105087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236057" y="2149186"/>
            <a:ext cx="80176" cy="-95134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316233" y="2054052"/>
            <a:ext cx="80176" cy="-85296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396409" y="1968756"/>
            <a:ext cx="80176" cy="-75816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476584" y="1892940"/>
            <a:ext cx="80176" cy="-66873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56760" y="1826067"/>
            <a:ext cx="80176" cy="-58585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36936" y="1767482"/>
            <a:ext cx="80176" cy="-51020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17111" y="1716462"/>
            <a:ext cx="80176" cy="-44202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97287" y="1672260"/>
            <a:ext cx="80176" cy="-38123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877463" y="1634137"/>
            <a:ext cx="80176" cy="-32753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957638" y="1601384"/>
            <a:ext cx="80176" cy="-28045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037814" y="1573339"/>
            <a:ext cx="80176" cy="-23946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117990" y="1549393"/>
            <a:ext cx="80176" cy="-20396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198165" y="1528997"/>
            <a:ext cx="80176" cy="-17337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278341" y="1511660"/>
            <a:ext cx="80176" cy="-14710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358517" y="1496950"/>
            <a:ext cx="80176" cy="-12462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438692" y="1484488"/>
            <a:ext cx="80176" cy="-10545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518868" y="1473943"/>
            <a:ext cx="80176" cy="-8913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599043" y="1465030"/>
            <a:ext cx="80176" cy="-7527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679219" y="1457503"/>
            <a:ext cx="80176" cy="-6351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759395" y="1451152"/>
            <a:ext cx="80176" cy="-5356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839570" y="1445796"/>
            <a:ext cx="80176" cy="-4514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919746" y="1441282"/>
            <a:ext cx="80176" cy="-3803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999922" y="1437480"/>
            <a:ext cx="80176" cy="-3202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080097" y="1434278"/>
            <a:ext cx="80176" cy="-2696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160273" y="1431582"/>
            <a:ext cx="80176" cy="-2269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240449" y="1429313"/>
            <a:ext cx="80176" cy="-1909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320624" y="1427404"/>
            <a:ext cx="80176" cy="-1606"/>
          </a:xfrm>
          <a:prstGeom prst="line">
            <a:avLst/>
          </a:prstGeom>
          <a:noFill/>
          <a:ln w="38100">
            <a:solidFill>
              <a:srgbClr val="2B9C9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02920" y="504748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</a:rPr>
              <a:t>0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502920" y="123444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</a:rPr>
              <a:t>1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3639312" y="1417320"/>
            <a:ext cx="0" cy="342900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834640" y="519379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</a:rPr>
              <a:t>p = .5 when Xβ = 0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6903720" y="141732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068312" y="1536192"/>
            <a:ext cx="3785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pᵢ = exp(Xᵢβ) / [1 + exp(Xᵢβ)]</a:t>
            </a:r>
            <a:endParaRPr lang="en-US" sz="2000" dirty="0"/>
          </a:p>
        </p:txBody>
      </p:sp>
      <p:sp>
        <p:nvSpPr>
          <p:cNvPr id="87" name="Shape 85"/>
          <p:cNvSpPr/>
          <p:nvPr/>
        </p:nvSpPr>
        <p:spPr>
          <a:xfrm>
            <a:off x="6903720" y="260604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068312" y="2724912"/>
            <a:ext cx="37856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log[pᵢ/(1−pᵢ)] = Xᵢβ</a:t>
            </a:r>
            <a:endParaRPr lang="en-US" sz="2000" dirty="0"/>
          </a:p>
        </p:txBody>
      </p:sp>
      <p:sp>
        <p:nvSpPr>
          <p:cNvPr id="89" name="Shape 87"/>
          <p:cNvSpPr/>
          <p:nvPr/>
        </p:nvSpPr>
        <p:spPr>
          <a:xfrm>
            <a:off x="6903720" y="3794760"/>
            <a:ext cx="4114800" cy="1005840"/>
          </a:xfrm>
          <a:prstGeom prst="roundRect">
            <a:avLst>
              <a:gd name="adj" fmla="val 5455"/>
            </a:avLst>
          </a:prstGeom>
          <a:solidFill>
            <a:srgbClr val="E39C48">
              <a:alpha val="80000"/>
            </a:srgbClr>
          </a:solidFill>
          <a:ln w="12700">
            <a:solidFill>
              <a:srgbClr val="E39C48">
                <a:alpha val="0"/>
              </a:srgbClr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068312" y="3931920"/>
            <a:ext cx="3785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Same model, two scales: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linear on log-odds; nonlinear on probability.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Logistic regression model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For each observation, the model gives the probability of the outcome we observed.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23444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353312"/>
            <a:ext cx="101864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logit(pᵢ) = log[pᵢ/(1−pᵢ)] = β₀ + β₁X₁ᵢ + … + βₖXₖᵢ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2331720"/>
            <a:ext cx="10515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450592"/>
            <a:ext cx="101864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P(Yᵢ=1|Xᵢ) = pᵢ = exp(Xᵢβ) / [1 + exp(Xᵢβ)]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22960" y="3310128"/>
            <a:ext cx="50292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429000"/>
            <a:ext cx="4700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P(Yᵢ=0|Xᵢ) = 1 − pᵢ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46520" y="3154680"/>
            <a:ext cx="4526280" cy="1051560"/>
          </a:xfrm>
          <a:prstGeom prst="roundRect">
            <a:avLst>
              <a:gd name="adj" fmla="val 5217"/>
            </a:avLst>
          </a:prstGeom>
          <a:solidFill>
            <a:srgbClr val="BDE8E6">
              <a:alpha val="90000"/>
            </a:srgbClr>
          </a:solidFill>
          <a:ln w="12700">
            <a:solidFill>
              <a:srgbClr val="BDE8E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11112" y="3291840"/>
            <a:ext cx="4197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Core move: estimate β so that observations with Y=1 receive high pᵢ and observations with Y=0 receive low pᵢ.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“best fit” to likelihood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OLS minimizes residuals. Logit maximizes the probability of the data.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05840" y="1417320"/>
            <a:ext cx="4480560" cy="2377440"/>
          </a:xfrm>
          <a:prstGeom prst="roundRect">
            <a:avLst>
              <a:gd name="adj" fmla="val 3077"/>
            </a:avLst>
          </a:prstGeom>
          <a:solidFill>
            <a:srgbClr val="F4EFE5"/>
          </a:solidFill>
          <a:ln w="12700">
            <a:solidFill>
              <a:srgbClr val="F4EFE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</a:rPr>
              <a:t>OLS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80160" y="2212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606D"/>
                </a:solidFill>
              </a:rPr>
              <a:t>Choose β to minimize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7889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Σ(Yᵢ − Xᵢβ)²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309360" y="1417320"/>
            <a:ext cx="4480560" cy="2377440"/>
          </a:xfrm>
          <a:prstGeom prst="roundRect">
            <a:avLst>
              <a:gd name="adj" fmla="val 3077"/>
            </a:avLst>
          </a:prstGeom>
          <a:solidFill>
            <a:srgbClr val="BDE8E6"/>
          </a:solidFill>
          <a:ln w="12700">
            <a:solidFill>
              <a:srgbClr val="BDE8E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</a:rPr>
              <a:t>Logit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583680" y="22128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606D"/>
                </a:solidFill>
              </a:rPr>
              <a:t>Choose β to maximize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27889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Π pᵢʸⁱ (1−pᵢ)¹⁻ʸⁱ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25880" y="4709160"/>
            <a:ext cx="96012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Maximum likelihood asks: under this parameter guess, how probable is the sample we actually observed?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Likelihood for a binary observation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Each observation contributes the probability of its observed outcome.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05840" y="141732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1536192"/>
            <a:ext cx="43342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Lᵢ(β) = pᵢ            if Yᵢ = 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05840" y="233172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2450592"/>
            <a:ext cx="43342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Lᵢ(β) = 1 − pᵢ        if Yᵢ = 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05840" y="352044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639312"/>
            <a:ext cx="43342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Lᵢ(β) = pᵢʸⁱ (1−pᵢ)¹⁻ʸⁱ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97280" y="4572000"/>
            <a:ext cx="4572000" cy="685800"/>
          </a:xfrm>
          <a:prstGeom prst="roundRect">
            <a:avLst>
              <a:gd name="adj" fmla="val 8000"/>
            </a:avLst>
          </a:prstGeom>
          <a:solidFill>
            <a:srgbClr val="E39C48">
              <a:alpha val="80000"/>
            </a:srgbClr>
          </a:solidFill>
          <a:ln w="12700">
            <a:solidFill>
              <a:srgbClr val="E39C4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61872" y="4709160"/>
            <a:ext cx="4242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One compact expression covers both observed outcomes.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155180" y="1531620"/>
            <a:ext cx="320040" cy="320040"/>
          </a:xfrm>
          <a:prstGeom prst="ellipse">
            <a:avLst/>
          </a:prstGeom>
          <a:solidFill>
            <a:srgbClr val="4A8F62"/>
          </a:solidFill>
          <a:ln w="12700">
            <a:solidFill>
              <a:srgbClr val="4A8F6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35240" y="1508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Y=1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41080" y="15270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606D"/>
                </a:solidFill>
              </a:rPr>
              <a:t>want pᵢ high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155180" y="2994660"/>
            <a:ext cx="320040" cy="320040"/>
          </a:xfrm>
          <a:prstGeom prst="ellipse">
            <a:avLst/>
          </a:prstGeom>
          <a:solidFill>
            <a:srgbClr val="B64A4A"/>
          </a:solidFill>
          <a:ln w="12700">
            <a:solidFill>
              <a:srgbClr val="B64A4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35240" y="2971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Y=0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41080" y="29900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606D"/>
                </a:solidFill>
              </a:rPr>
              <a:t>want 1−pᵢ high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Joint likelihood and log-likelihood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Products get tiny. Logs make optimization easier.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32588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444752"/>
            <a:ext cx="502005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L(β | y,X) = Πᵢ pᵢʸⁱ (1−pᵢ)¹⁻ʸⁱ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55080" y="1536192"/>
            <a:ext cx="502920" cy="411480"/>
          </a:xfrm>
          <a:prstGeom prst="chevron">
            <a:avLst/>
          </a:prstGeom>
          <a:solidFill>
            <a:srgbClr val="172033">
              <a:alpha val="90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0" y="1325880"/>
            <a:ext cx="4480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05472" y="1444752"/>
            <a:ext cx="41513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ℓ(β) = Σᵢ [ yᵢ log(pᵢ) + (1−yᵢ) log(1−pᵢ) ]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2743200"/>
            <a:ext cx="960120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log is monotonic, the β that maximizes L also maximizes ℓ.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194560" y="3886200"/>
            <a:ext cx="7680960" cy="822960"/>
          </a:xfrm>
          <a:prstGeom prst="roundRect">
            <a:avLst>
              <a:gd name="adj" fmla="val 6667"/>
            </a:avLst>
          </a:prstGeom>
          <a:solidFill>
            <a:srgbClr val="BDE8E6">
              <a:alpha val="90000"/>
            </a:srgbClr>
          </a:solidFill>
          <a:ln w="12700">
            <a:solidFill>
              <a:srgbClr val="BDE8E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59152" y="4023360"/>
            <a:ext cx="7351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In practice, we minimize −ℓ(β) with a numerical optimizer such as optim() in R.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Example: GRE, GPA, and admissions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A familiar binary outcome: admitted or not admitted.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234440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353312"/>
            <a:ext cx="3877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Admitᵢ ~ Bernoulli(pᵢ)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2148840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267712"/>
            <a:ext cx="100949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logit(pᵢ) = α + β₁GREᵢ + β₂GPAᵢ + β₃Rank2ᵢ + β₄Rank3ᵢ + β₅Rank4ᵢ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68680" y="3383280"/>
            <a:ext cx="4754880" cy="1143000"/>
          </a:xfrm>
          <a:prstGeom prst="roundRect">
            <a:avLst>
              <a:gd name="adj" fmla="val 4800"/>
            </a:avLst>
          </a:prstGeom>
          <a:solidFill>
            <a:srgbClr val="E39C48">
              <a:alpha val="80000"/>
            </a:srgbClr>
          </a:solidFill>
          <a:ln w="12700">
            <a:solidFill>
              <a:srgbClr val="E39C4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3520440"/>
            <a:ext cx="4425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Why omit Rank 1?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It is the reference category. Including all ranks plus an intercept creates perfect collinearity.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0" y="3968496"/>
            <a:ext cx="384048" cy="987552"/>
          </a:xfrm>
          <a:prstGeom prst="line">
            <a:avLst/>
          </a:prstGeom>
          <a:noFill/>
          <a:ln w="30480">
            <a:solidFill>
              <a:srgbClr val="2B9C9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02752" y="3606394"/>
            <a:ext cx="603504" cy="1349654"/>
          </a:xfrm>
          <a:prstGeom prst="line">
            <a:avLst/>
          </a:prstGeom>
          <a:noFill/>
          <a:ln w="30480">
            <a:solidFill>
              <a:srgbClr val="2B9C9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90304" y="3968496"/>
            <a:ext cx="-1591056" cy="987552"/>
          </a:xfrm>
          <a:prstGeom prst="line">
            <a:avLst/>
          </a:prstGeom>
          <a:noFill/>
          <a:ln w="15240">
            <a:solidFill>
              <a:srgbClr val="52606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3968496"/>
            <a:ext cx="987552" cy="-362102"/>
          </a:xfrm>
          <a:prstGeom prst="line">
            <a:avLst/>
          </a:prstGeom>
          <a:noFill/>
          <a:ln w="15240">
            <a:solidFill>
              <a:srgbClr val="E6E8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99248" y="4956048"/>
            <a:ext cx="1207008" cy="0"/>
          </a:xfrm>
          <a:prstGeom prst="line">
            <a:avLst/>
          </a:prstGeom>
          <a:noFill/>
          <a:ln w="15240">
            <a:solidFill>
              <a:srgbClr val="E6E8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89013" y="3842309"/>
            <a:ext cx="252374" cy="252374"/>
          </a:xfrm>
          <a:prstGeom prst="ellipse">
            <a:avLst/>
          </a:prstGeom>
          <a:solidFill>
            <a:srgbClr val="2C5D8A"/>
          </a:solidFill>
          <a:ln w="12700">
            <a:solidFill>
              <a:srgbClr val="2C5D8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7418" y="3886200"/>
            <a:ext cx="17556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A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8176565" y="3480206"/>
            <a:ext cx="252374" cy="252374"/>
          </a:xfrm>
          <a:prstGeom prst="ellipse">
            <a:avLst/>
          </a:prstGeom>
          <a:solidFill>
            <a:srgbClr val="2C5D8A"/>
          </a:solidFill>
          <a:ln w="12700">
            <a:solidFill>
              <a:srgbClr val="2C5D8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14970" y="3524098"/>
            <a:ext cx="17556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B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9164117" y="3842309"/>
            <a:ext cx="252374" cy="252374"/>
          </a:xfrm>
          <a:prstGeom prst="ellipse">
            <a:avLst/>
          </a:prstGeom>
          <a:solidFill>
            <a:srgbClr val="2C5D8A"/>
          </a:solidFill>
          <a:ln w="12700">
            <a:solidFill>
              <a:srgbClr val="2C5D8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02522" y="3886200"/>
            <a:ext cx="17556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C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7573061" y="4829861"/>
            <a:ext cx="252374" cy="252374"/>
          </a:xfrm>
          <a:prstGeom prst="ellipse">
            <a:avLst/>
          </a:prstGeom>
          <a:solidFill>
            <a:srgbClr val="E39C48"/>
          </a:solidFill>
          <a:ln w="12700">
            <a:solidFill>
              <a:srgbClr val="E39C4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11466" y="4873752"/>
            <a:ext cx="17556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D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8780069" y="4829861"/>
            <a:ext cx="252374" cy="252374"/>
          </a:xfrm>
          <a:prstGeom prst="ellipse">
            <a:avLst/>
          </a:prstGeom>
          <a:solidFill>
            <a:srgbClr val="E39C48"/>
          </a:solidFill>
          <a:ln w="12700">
            <a:solidFill>
              <a:srgbClr val="E39C4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18474" y="4873752"/>
            <a:ext cx="17556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E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6537960" y="50749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2606D"/>
                </a:solidFill>
              </a:rPr>
              <a:t>The same binary-outcome machinery will later be applied to potential network edges.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Programming the logit likelihood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Students see what glm() is doing under the hood.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207008"/>
            <a:ext cx="5166360" cy="3337560"/>
          </a:xfrm>
          <a:prstGeom prst="roundRect">
            <a:avLst>
              <a:gd name="adj" fmla="val 1370"/>
            </a:avLst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371600"/>
            <a:ext cx="4846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MyLogLike &lt;- function(par, Y, X)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xbeta &lt;- X %*% par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     &lt;- exp(xbeta) / (1 + exp(xbeta))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ll    &lt;- Y*log(p) + (1-Y)*log(1-p)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return(-sum(ll))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46520" y="1207008"/>
            <a:ext cx="4937760" cy="3931920"/>
          </a:xfrm>
          <a:prstGeom prst="roundRect">
            <a:avLst>
              <a:gd name="adj" fmla="val 1163"/>
            </a:avLst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1371600"/>
            <a:ext cx="4617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par0 &lt;- rep(0, ncol(X))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 &lt;- optim(par0, MyLogLike,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Y = Y, X = X,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method = "BFGS",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hessian = TRUE)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fit$par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Check: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glm(admit ~ gre + gpa + factor(rank),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family = binomial, data = mydata)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1417320" y="5074920"/>
            <a:ext cx="9052560" cy="566928"/>
          </a:xfrm>
          <a:prstGeom prst="roundRect">
            <a:avLst>
              <a:gd name="adj" fmla="val 9677"/>
            </a:avLst>
          </a:prstGeom>
          <a:solidFill>
            <a:srgbClr val="BDE8E6">
              <a:alpha val="90000"/>
            </a:srgbClr>
          </a:solidFill>
          <a:ln w="12700">
            <a:solidFill>
              <a:srgbClr val="BDE8E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81912" y="5212080"/>
            <a:ext cx="87233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The optimizer searches over β until the log-likelihood cannot be improved.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numerical optimization does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No closed-form solution is needed.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4709160"/>
            <a:ext cx="5394960" cy="0"/>
          </a:xfrm>
          <a:prstGeom prst="line">
            <a:avLst/>
          </a:prstGeom>
          <a:noFill/>
          <a:ln w="1651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14400" y="4709160"/>
            <a:ext cx="0" cy="-3474720"/>
          </a:xfrm>
          <a:prstGeom prst="line">
            <a:avLst/>
          </a:prstGeom>
          <a:noFill/>
          <a:ln w="1651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394960" y="4818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</a:rPr>
              <a:t>β guess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 rot="16200000">
            <a:off x="658368" y="11430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</a:rPr>
              <a:t>−ℓ(β)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60120" y="4764183"/>
            <a:ext cx="117417" cy="-192014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7537" y="4572169"/>
            <a:ext cx="117417" cy="-186739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4955" y="4385430"/>
            <a:ext cx="117417" cy="-182589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12372" y="4202842"/>
            <a:ext cx="117417" cy="-179270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29789" y="4023571"/>
            <a:ext cx="117417" cy="-176430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47206" y="3847142"/>
            <a:ext cx="117417" cy="-173677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64624" y="3673464"/>
            <a:ext cx="117417" cy="-170617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82041" y="3502847"/>
            <a:ext cx="117417" cy="-166875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99458" y="3335972"/>
            <a:ext cx="117417" cy="-162129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16875" y="3173843"/>
            <a:ext cx="117417" cy="-156130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34293" y="3017713"/>
            <a:ext cx="117417" cy="-148722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51710" y="2868990"/>
            <a:ext cx="117417" cy="-139853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69127" y="2729137"/>
            <a:ext cx="117417" cy="-129580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86545" y="2599557"/>
            <a:ext cx="117417" cy="-118061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03962" y="2481496"/>
            <a:ext cx="117417" cy="-105549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21379" y="2375947"/>
            <a:ext cx="117417" cy="-92369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38796" y="2283578"/>
            <a:ext cx="117417" cy="-78897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56214" y="2204682"/>
            <a:ext cx="117417" cy="-65527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73631" y="2139154"/>
            <a:ext cx="117417" cy="-52650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91048" y="2086504"/>
            <a:ext cx="117417" cy="-40617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08465" y="2045887"/>
            <a:ext cx="117417" cy="-29719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25883" y="2016168"/>
            <a:ext cx="117417" cy="-20161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43300" y="1996007"/>
            <a:ext cx="117417" cy="-12050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60717" y="1983957"/>
            <a:ext cx="117417" cy="-5387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78135" y="1978570"/>
            <a:ext cx="117417" cy="-64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95552" y="1978505"/>
            <a:ext cx="117417" cy="4124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12969" y="1982629"/>
            <a:ext cx="117417" cy="7468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30386" y="1990097"/>
            <a:ext cx="117417" cy="10320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47804" y="2000417"/>
            <a:ext cx="117417" cy="13068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65221" y="2013485"/>
            <a:ext cx="117417" cy="16110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82638" y="2029595"/>
            <a:ext cx="117417" cy="19819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00055" y="2049414"/>
            <a:ext cx="117417" cy="24521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17473" y="2073935"/>
            <a:ext cx="117417" cy="30469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34890" y="2104404"/>
            <a:ext cx="117417" cy="37821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52307" y="2142225"/>
            <a:ext cx="117417" cy="46634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69725" y="2188859"/>
            <a:ext cx="117417" cy="56856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187142" y="2245715"/>
            <a:ext cx="117417" cy="68332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304559" y="2314047"/>
            <a:ext cx="117417" cy="80811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21976" y="2394858"/>
            <a:ext cx="117417" cy="93972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539394" y="2488830"/>
            <a:ext cx="117417" cy="107440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656811" y="2596270"/>
            <a:ext cx="117417" cy="120821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774228" y="2717091"/>
            <a:ext cx="117417" cy="133724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891645" y="2850815"/>
            <a:ext cx="117417" cy="145795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09063" y="2996610"/>
            <a:ext cx="117417" cy="156741"/>
          </a:xfrm>
          <a:prstGeom prst="line">
            <a:avLst/>
          </a:prstGeom>
          <a:noFill/>
          <a:ln w="31750">
            <a:solidFill>
              <a:srgbClr val="2C5D8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995928" y="1865376"/>
            <a:ext cx="146304" cy="146304"/>
          </a:xfrm>
          <a:prstGeom prst="ellipse">
            <a:avLst/>
          </a:prstGeom>
          <a:solidFill>
            <a:srgbClr val="E39C48"/>
          </a:solidFill>
          <a:ln w="12700">
            <a:solidFill>
              <a:srgbClr val="E39C48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51960" y="17373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9C48"/>
                </a:solidFill>
              </a:rPr>
              <a:t>minimum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995160" y="1463040"/>
            <a:ext cx="420624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172033"/>
                </a:solidFill>
              </a:rPr>
              <a:t>Start with a guess for the parameters.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172033"/>
                </a:solidFill>
              </a:rPr>
              <a:t>Compute the negative log-likelihood.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172033"/>
                </a:solidFill>
              </a:rPr>
              <a:t>Move in a direction that improves fit.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172033"/>
                </a:solidFill>
              </a:rPr>
              <a:t>Stop when improvement is negligible.</a:t>
            </a:r>
            <a:endParaRPr lang="en-US" sz="1650" dirty="0"/>
          </a:p>
        </p:txBody>
      </p:sp>
      <p:sp>
        <p:nvSpPr>
          <p:cNvPr id="59" name="Shape 57"/>
          <p:cNvSpPr/>
          <p:nvPr/>
        </p:nvSpPr>
        <p:spPr>
          <a:xfrm>
            <a:off x="6812280" y="4251960"/>
            <a:ext cx="44805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76872" y="4370832"/>
            <a:ext cx="41513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argmaxβ ℓ(β) = argminβ [−ℓ(β)]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not stop at the coefficient table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Logit coefficients show direction; probabilities show substantive size.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143000"/>
            <a:ext cx="502920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Coefficient table</a:t>
            </a:r>
            <a:endParaRPr lang="en-US" sz="1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51560" y="1828800"/>
          <a:ext cx="4526280" cy="2057400"/>
        </p:xfrm>
        <a:graphic>
          <a:graphicData uri="http://schemas.openxmlformats.org/drawingml/2006/table">
            <a:tbl>
              <a:tblPr/>
              <a:tblGrid>
                <a:gridCol w="1508760"/>
                <a:gridCol w="1508760"/>
                <a:gridCol w="150876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172033"/>
                          </a:solidFill>
                        </a:rPr>
                        <a:t>Term</a:t>
                      </a:r>
                      <a:endParaRPr lang="en-US" sz="112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172033"/>
                          </a:solidFill>
                        </a:rPr>
                        <a:t>Estimate</a:t>
                      </a:r>
                      <a:endParaRPr lang="en-US" sz="112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172033"/>
                          </a:solidFill>
                        </a:rPr>
                        <a:t>p</a:t>
                      </a:r>
                      <a:endParaRPr lang="en-US" sz="112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72033"/>
                          </a:solidFill>
                        </a:rPr>
                        <a:t>GRE</a:t>
                      </a:r>
                      <a:endParaRPr lang="en-US" sz="112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72033"/>
                          </a:solidFill>
                        </a:rPr>
                        <a:t>0.0023</a:t>
                      </a:r>
                      <a:endParaRPr lang="en-US" sz="112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72033"/>
                          </a:solidFill>
                        </a:rPr>
                        <a:t>.038</a:t>
                      </a:r>
                      <a:endParaRPr lang="en-US" sz="112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72033"/>
                          </a:solidFill>
                        </a:rPr>
                        <a:t>GPA</a:t>
                      </a:r>
                      <a:endParaRPr lang="en-US" sz="112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72033"/>
                          </a:solidFill>
                        </a:rPr>
                        <a:t>0.804</a:t>
                      </a:r>
                      <a:endParaRPr lang="en-US" sz="112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72033"/>
                          </a:solidFill>
                        </a:rPr>
                        <a:t>.015</a:t>
                      </a:r>
                      <a:endParaRPr lang="en-US" sz="112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72033"/>
                          </a:solidFill>
                        </a:rPr>
                        <a:t>Rank 2</a:t>
                      </a:r>
                      <a:endParaRPr lang="en-US" sz="112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72033"/>
                          </a:solidFill>
                        </a:rPr>
                        <a:t>−0.675</a:t>
                      </a:r>
                      <a:endParaRPr lang="en-US" sz="112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72033"/>
                          </a:solidFill>
                        </a:rPr>
                        <a:t>.033</a:t>
                      </a:r>
                      <a:endParaRPr lang="en-US" sz="112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72033"/>
                          </a:solidFill>
                        </a:rPr>
                        <a:t>Rank 3</a:t>
                      </a:r>
                      <a:endParaRPr lang="en-US" sz="112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72033"/>
                          </a:solidFill>
                        </a:rPr>
                        <a:t>−1.340</a:t>
                      </a:r>
                      <a:endParaRPr lang="en-US" sz="112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72033"/>
                          </a:solidFill>
                        </a:rPr>
                        <a:t>.000</a:t>
                      </a:r>
                      <a:endParaRPr lang="en-US" sz="112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72033"/>
                          </a:solidFill>
                        </a:rPr>
                        <a:t>Rank 4</a:t>
                      </a:r>
                      <a:endParaRPr lang="en-US" sz="112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72033"/>
                          </a:solidFill>
                        </a:rPr>
                        <a:t>−1.551</a:t>
                      </a:r>
                      <a:endParaRPr lang="en-US" sz="112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dirty="0">
                          <a:solidFill>
                            <a:srgbClr val="172033"/>
                          </a:solidFill>
                        </a:rPr>
                        <a:t>.000</a:t>
                      </a:r>
                      <a:endParaRPr lang="en-US" sz="112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126480" y="2377440"/>
            <a:ext cx="548640" cy="548640"/>
          </a:xfrm>
          <a:prstGeom prst="chevron">
            <a:avLst/>
          </a:prstGeom>
          <a:solidFill>
            <a:srgbClr val="172033">
              <a:alpha val="90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903720" y="1600200"/>
            <a:ext cx="4114800" cy="822960"/>
          </a:xfrm>
          <a:prstGeom prst="roundRect">
            <a:avLst>
              <a:gd name="adj" fmla="val 6667"/>
            </a:avLst>
          </a:prstGeom>
          <a:solidFill>
            <a:srgbClr val="BDE8E6">
              <a:alpha val="90000"/>
            </a:srgbClr>
          </a:solidFill>
          <a:ln w="12700">
            <a:solidFill>
              <a:srgbClr val="BDE8E6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68312" y="1737360"/>
            <a:ext cx="3785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Translate to predicted probabilities or first differences.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903720" y="2743200"/>
            <a:ext cx="42062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What is P(admit) for a given profile?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How does P(admit) change as GPA increases?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How different are rank categories at a common GRE/GPA?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Predicted probabilities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Hold some variables fixed; vary the variable of interest.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4983480"/>
            <a:ext cx="5486400" cy="0"/>
          </a:xfrm>
          <a:prstGeom prst="line">
            <a:avLst/>
          </a:prstGeom>
          <a:noFill/>
          <a:ln w="1651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22960" y="4983480"/>
            <a:ext cx="0" cy="-3749040"/>
          </a:xfrm>
          <a:prstGeom prst="line">
            <a:avLst/>
          </a:prstGeom>
          <a:noFill/>
          <a:ln w="1651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394960" y="50932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</a:rPr>
              <a:t>GPA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 rot="16200000">
            <a:off x="566928" y="11430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</a:rPr>
              <a:t>P(admit)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68680" y="3993019"/>
            <a:ext cx="98213" cy="-49750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6893" y="3943270"/>
            <a:ext cx="98213" cy="-52108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5107" y="3891161"/>
            <a:ext cx="98213" cy="-54429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63320" y="3836732"/>
            <a:ext cx="98213" cy="-56691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61533" y="3780042"/>
            <a:ext cx="98213" cy="-58870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59747" y="3721172"/>
            <a:ext cx="98213" cy="-60944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57960" y="3660227"/>
            <a:ext cx="98213" cy="-62889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56173" y="3597338"/>
            <a:ext cx="98213" cy="-64682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54387" y="3532656"/>
            <a:ext cx="98213" cy="-66300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52600" y="3466357"/>
            <a:ext cx="98213" cy="-67721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50813" y="3398635"/>
            <a:ext cx="98213" cy="-68927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49027" y="3329708"/>
            <a:ext cx="98213" cy="-69900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47240" y="3259808"/>
            <a:ext cx="98213" cy="-70627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45453" y="3189181"/>
            <a:ext cx="98213" cy="-71097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43667" y="3118084"/>
            <a:ext cx="98213" cy="-71302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41880" y="3046781"/>
            <a:ext cx="98213" cy="-71241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40093" y="2975541"/>
            <a:ext cx="98213" cy="-70913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38307" y="2904628"/>
            <a:ext cx="98213" cy="-70323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36520" y="2834305"/>
            <a:ext cx="98213" cy="-69481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34733" y="2764824"/>
            <a:ext cx="98213" cy="-68398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32947" y="2696425"/>
            <a:ext cx="98213" cy="-67091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31160" y="2629335"/>
            <a:ext cx="98213" cy="-65576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29373" y="2563758"/>
            <a:ext cx="98213" cy="-63875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27587" y="2499883"/>
            <a:ext cx="98213" cy="-62009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25800" y="2437874"/>
            <a:ext cx="98213" cy="-60001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24013" y="2377873"/>
            <a:ext cx="98213" cy="-57876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22227" y="2319997"/>
            <a:ext cx="98213" cy="-55656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20440" y="2264342"/>
            <a:ext cx="98213" cy="-53364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18653" y="2210978"/>
            <a:ext cx="98213" cy="-51023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16867" y="2159954"/>
            <a:ext cx="98213" cy="-48654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15080" y="2111300"/>
            <a:ext cx="98213" cy="-46277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13293" y="2065024"/>
            <a:ext cx="98213" cy="-43908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011507" y="2021116"/>
            <a:ext cx="98213" cy="-41564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09720" y="1979551"/>
            <a:ext cx="98213" cy="-39260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07933" y="1940292"/>
            <a:ext cx="98213" cy="-37006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306147" y="1903285"/>
            <a:ext cx="98213" cy="-34814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04360" y="1868471"/>
            <a:ext cx="98213" cy="-32692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02573" y="1835779"/>
            <a:ext cx="98213" cy="-30647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00787" y="1805132"/>
            <a:ext cx="98213" cy="-28683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99000" y="1776449"/>
            <a:ext cx="98213" cy="-26804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97213" y="1749645"/>
            <a:ext cx="98213" cy="-25013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95427" y="1724632"/>
            <a:ext cx="98213" cy="-23311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993640" y="1701321"/>
            <a:ext cx="98213" cy="-21698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091853" y="1679623"/>
            <a:ext cx="98213" cy="-20174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190067" y="1659449"/>
            <a:ext cx="98213" cy="-18737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288280" y="1640712"/>
            <a:ext cx="98213" cy="-17385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86493" y="1623327"/>
            <a:ext cx="98213" cy="-16116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484707" y="1607211"/>
            <a:ext cx="98213" cy="-14926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582920" y="1592285"/>
            <a:ext cx="98213" cy="-13814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681133" y="1578471"/>
            <a:ext cx="98213" cy="-12775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779347" y="1565696"/>
            <a:ext cx="98213" cy="-11807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877560" y="1553889"/>
            <a:ext cx="98213" cy="-10905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975773" y="1542984"/>
            <a:ext cx="98213" cy="-10066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073987" y="1532918"/>
            <a:ext cx="98213" cy="-9287"/>
          </a:xfrm>
          <a:prstGeom prst="line">
            <a:avLst/>
          </a:prstGeom>
          <a:noFill/>
          <a:ln w="27940">
            <a:solidFill>
              <a:srgbClr val="2C5D8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903720" y="1463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D8A"/>
                </a:solidFill>
              </a:rPr>
              <a:t>Rank 1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868680" y="4291917"/>
            <a:ext cx="98213" cy="-32612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66893" y="4259305"/>
            <a:ext cx="98213" cy="-34731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65107" y="4224574"/>
            <a:ext cx="98213" cy="-36921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63320" y="4187653"/>
            <a:ext cx="98213" cy="-39172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261533" y="4148481"/>
            <a:ext cx="98213" cy="-41475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359747" y="4107006"/>
            <a:ext cx="98213" cy="-43817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457960" y="4063189"/>
            <a:ext cx="98213" cy="-46185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556173" y="4017004"/>
            <a:ext cx="98213" cy="-48563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654387" y="3968441"/>
            <a:ext cx="98213" cy="-50932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752600" y="3917508"/>
            <a:ext cx="98213" cy="-53275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850813" y="3864234"/>
            <a:ext cx="98213" cy="-55569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949027" y="3808665"/>
            <a:ext cx="98213" cy="-57792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047240" y="3750873"/>
            <a:ext cx="98213" cy="-59922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145453" y="3690951"/>
            <a:ext cx="98213" cy="-61934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243667" y="3629017"/>
            <a:ext cx="98213" cy="-63806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341880" y="3565211"/>
            <a:ext cx="98213" cy="-65514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440093" y="3499697"/>
            <a:ext cx="98213" cy="-67036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538307" y="3432661"/>
            <a:ext cx="98213" cy="-68352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636520" y="3364308"/>
            <a:ext cx="98213" cy="-69444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734733" y="3294865"/>
            <a:ext cx="98213" cy="-70295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832947" y="3224569"/>
            <a:ext cx="98213" cy="-70895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931160" y="3153674"/>
            <a:ext cx="98213" cy="-71233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029373" y="3082442"/>
            <a:ext cx="98213" cy="-71305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127587" y="3011137"/>
            <a:ext cx="98213" cy="-71110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225800" y="2940027"/>
            <a:ext cx="98213" cy="-70650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324013" y="2869377"/>
            <a:ext cx="98213" cy="-69933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422227" y="2799444"/>
            <a:ext cx="98213" cy="-68969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520440" y="2730475"/>
            <a:ext cx="98213" cy="-67772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618653" y="2662703"/>
            <a:ext cx="98213" cy="-66358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716867" y="2596345"/>
            <a:ext cx="98213" cy="-64748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815080" y="2531597"/>
            <a:ext cx="98213" cy="-62961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913293" y="2468636"/>
            <a:ext cx="98213" cy="-61021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011507" y="2407615"/>
            <a:ext cx="98213" cy="-58952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109720" y="2348663"/>
            <a:ext cx="98213" cy="-56776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207933" y="2291887"/>
            <a:ext cx="98213" cy="-54517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306147" y="2237370"/>
            <a:ext cx="98213" cy="-52198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404360" y="2185171"/>
            <a:ext cx="98213" cy="-49841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502573" y="2135330"/>
            <a:ext cx="98213" cy="-47465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600787" y="2087865"/>
            <a:ext cx="98213" cy="-45090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699000" y="2042775"/>
            <a:ext cx="98213" cy="-42732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797213" y="2000043"/>
            <a:ext cx="98213" cy="-40406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895427" y="1959636"/>
            <a:ext cx="98213" cy="-38126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993640" y="1921510"/>
            <a:ext cx="98213" cy="-35902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091853" y="1885608"/>
            <a:ext cx="98213" cy="-33744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190067" y="1851864"/>
            <a:ext cx="98213" cy="-31660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288280" y="1820205"/>
            <a:ext cx="98213" cy="-29654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386493" y="1790550"/>
            <a:ext cx="98213" cy="-27733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484707" y="1762818"/>
            <a:ext cx="98213" cy="-25898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582920" y="1736920"/>
            <a:ext cx="98213" cy="-24151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681133" y="1712769"/>
            <a:ext cx="98213" cy="-22494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779347" y="1690276"/>
            <a:ext cx="98213" cy="-20925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877560" y="1669351"/>
            <a:ext cx="98213" cy="-19445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975773" y="1649906"/>
            <a:ext cx="98213" cy="-18050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073987" y="1631856"/>
            <a:ext cx="98213" cy="-16740"/>
          </a:xfrm>
          <a:prstGeom prst="line">
            <a:avLst/>
          </a:prstGeom>
          <a:noFill/>
          <a:ln w="27940">
            <a:solidFill>
              <a:srgbClr val="2B9C9C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903720" y="1874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9C9C"/>
                </a:solidFill>
              </a:rPr>
              <a:t>Rank 2</a:t>
            </a:r>
            <a:endParaRPr lang="en-US" sz="1200" dirty="0"/>
          </a:p>
        </p:txBody>
      </p:sp>
      <p:sp>
        <p:nvSpPr>
          <p:cNvPr id="122" name="Shape 120"/>
          <p:cNvSpPr/>
          <p:nvPr/>
        </p:nvSpPr>
        <p:spPr>
          <a:xfrm>
            <a:off x="868680" y="4497943"/>
            <a:ext cx="98213" cy="-17792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66893" y="4480151"/>
            <a:ext cx="98213" cy="-19170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65107" y="4460981"/>
            <a:ext cx="98213" cy="-20634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163320" y="4440348"/>
            <a:ext cx="98213" cy="-22185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261533" y="4418162"/>
            <a:ext cx="98213" cy="-23825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359747" y="4394337"/>
            <a:ext cx="98213" cy="-25555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457960" y="4368782"/>
            <a:ext cx="98213" cy="-27373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556173" y="4341409"/>
            <a:ext cx="98213" cy="-29278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654387" y="4312131"/>
            <a:ext cx="98213" cy="-31268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752600" y="4280864"/>
            <a:ext cx="98213" cy="-33337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850813" y="4247526"/>
            <a:ext cx="98213" cy="-35482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949027" y="4212045"/>
            <a:ext cx="98213" cy="-37694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047240" y="4174351"/>
            <a:ext cx="98213" cy="-39964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2145453" y="4134387"/>
            <a:ext cx="98213" cy="-42282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2243667" y="4092105"/>
            <a:ext cx="98213" cy="-44635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341880" y="4047471"/>
            <a:ext cx="98213" cy="-47008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440093" y="4000463"/>
            <a:ext cx="98213" cy="-49385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538307" y="3951078"/>
            <a:ext cx="98213" cy="-51747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636520" y="3899330"/>
            <a:ext cx="98213" cy="-54075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734733" y="3845255"/>
            <a:ext cx="98213" cy="-56347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832947" y="3788907"/>
            <a:ext cx="98213" cy="-58541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931160" y="3730366"/>
            <a:ext cx="98213" cy="-60633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029373" y="3669734"/>
            <a:ext cx="98213" cy="-62599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3127587" y="3607134"/>
            <a:ext cx="98213" cy="-64417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3225800" y="3542717"/>
            <a:ext cx="98213" cy="-66063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3324013" y="3476654"/>
            <a:ext cx="98213" cy="-67516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3422227" y="3409138"/>
            <a:ext cx="98213" cy="-68756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3520440" y="3340382"/>
            <a:ext cx="98213" cy="-69766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3618653" y="3270615"/>
            <a:ext cx="98213" cy="-70532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3716867" y="3200083"/>
            <a:ext cx="98213" cy="-71042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3815080" y="3129042"/>
            <a:ext cx="98213" cy="-71288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3913293" y="3057754"/>
            <a:ext cx="98213" cy="-71268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4011507" y="2986486"/>
            <a:ext cx="98213" cy="-70980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4109720" y="2915506"/>
            <a:ext cx="98213" cy="-70431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4207933" y="2845075"/>
            <a:ext cx="98213" cy="-69627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306147" y="2775449"/>
            <a:ext cx="98213" cy="-68580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4404360" y="2706869"/>
            <a:ext cx="98213" cy="-67306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4502573" y="2639563"/>
            <a:ext cx="98213" cy="-65822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4600787" y="2573741"/>
            <a:ext cx="98213" cy="-64148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4699000" y="2509593"/>
            <a:ext cx="98213" cy="-62306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4797213" y="2447287"/>
            <a:ext cx="98213" cy="-60319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4895427" y="2386968"/>
            <a:ext cx="98213" cy="-58210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4993640" y="2328759"/>
            <a:ext cx="98213" cy="-56002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091853" y="2272756"/>
            <a:ext cx="98213" cy="-53720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190067" y="2219036"/>
            <a:ext cx="98213" cy="-51386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288280" y="2167650"/>
            <a:ext cx="98213" cy="-49020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386493" y="2118631"/>
            <a:ext cx="98213" cy="-46642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484707" y="2071988"/>
            <a:ext cx="98213" cy="-44271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5582920" y="2027717"/>
            <a:ext cx="98213" cy="-41923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5681133" y="1985795"/>
            <a:ext cx="98213" cy="-39611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5779347" y="1946184"/>
            <a:ext cx="98213" cy="-37349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5877560" y="1908834"/>
            <a:ext cx="98213" cy="-35147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5975773" y="1873687"/>
            <a:ext cx="98213" cy="-33014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073987" y="1840673"/>
            <a:ext cx="98213" cy="-30956"/>
          </a:xfrm>
          <a:prstGeom prst="line">
            <a:avLst/>
          </a:prstGeom>
          <a:noFill/>
          <a:ln w="27940">
            <a:solidFill>
              <a:srgbClr val="E39C48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6903720" y="22860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9C48"/>
                </a:solidFill>
              </a:rPr>
              <a:t>Rank 3</a:t>
            </a:r>
            <a:endParaRPr lang="en-US" sz="1200" dirty="0"/>
          </a:p>
        </p:txBody>
      </p:sp>
      <p:sp>
        <p:nvSpPr>
          <p:cNvPr id="177" name="Shape 175"/>
          <p:cNvSpPr/>
          <p:nvPr/>
        </p:nvSpPr>
        <p:spPr>
          <a:xfrm>
            <a:off x="868680" y="4557443"/>
            <a:ext cx="98213" cy="-13048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966893" y="4544395"/>
            <a:ext cx="98213" cy="-14106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065107" y="4530289"/>
            <a:ext cx="98213" cy="-15239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1163320" y="4515050"/>
            <a:ext cx="98213" cy="-16449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1261533" y="4498601"/>
            <a:ext cx="98213" cy="-17741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1359747" y="4480860"/>
            <a:ext cx="98213" cy="-19115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1457960" y="4461745"/>
            <a:ext cx="98213" cy="-20576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1556173" y="4441169"/>
            <a:ext cx="98213" cy="-22124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654387" y="4419045"/>
            <a:ext cx="98213" cy="-23761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752600" y="4395285"/>
            <a:ext cx="98213" cy="-25487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850813" y="4369798"/>
            <a:ext cx="98213" cy="-27301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1949027" y="4342497"/>
            <a:ext cx="98213" cy="-29203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2047240" y="4313294"/>
            <a:ext cx="98213" cy="-31190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2145453" y="4282104"/>
            <a:ext cx="98213" cy="-33256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2243667" y="4248848"/>
            <a:ext cx="98213" cy="-35398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2341880" y="4213450"/>
            <a:ext cx="98213" cy="-37607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2440093" y="4175842"/>
            <a:ext cx="98213" cy="-39876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2538307" y="4135967"/>
            <a:ext cx="98213" cy="-42192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2636520" y="4093775"/>
            <a:ext cx="98213" cy="-44544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2734733" y="4049231"/>
            <a:ext cx="98213" cy="-46916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2832947" y="4002315"/>
            <a:ext cx="98213" cy="-49294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2931160" y="3953021"/>
            <a:ext cx="98213" cy="-51657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3029373" y="3901364"/>
            <a:ext cx="98213" cy="-53987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3127587" y="3847377"/>
            <a:ext cx="98213" cy="-56261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3225800" y="3791116"/>
            <a:ext cx="98213" cy="-58458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3324013" y="3732657"/>
            <a:ext cx="98213" cy="-60555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3422227" y="3672103"/>
            <a:ext cx="98213" cy="-62526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3520440" y="3609577"/>
            <a:ext cx="98213" cy="-64350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3618653" y="3545226"/>
            <a:ext cx="98213" cy="-66003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3716867" y="3479223"/>
            <a:ext cx="98213" cy="-67464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3815080" y="3411759"/>
            <a:ext cx="98213" cy="-68713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3913293" y="3343046"/>
            <a:ext cx="98213" cy="-69732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4011507" y="3273314"/>
            <a:ext cx="98213" cy="-70507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4109720" y="3202807"/>
            <a:ext cx="98213" cy="-71027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4207933" y="3131780"/>
            <a:ext cx="98213" cy="-71284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4306147" y="3060497"/>
            <a:ext cx="98213" cy="-71273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4404360" y="2989224"/>
            <a:ext cx="98213" cy="-70996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4502573" y="2918227"/>
            <a:ext cx="98213" cy="-70456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4600787" y="2847771"/>
            <a:ext cx="98213" cy="-69662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4699000" y="2778109"/>
            <a:ext cx="98213" cy="-68625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4797213" y="2709484"/>
            <a:ext cx="98213" cy="-67359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4895427" y="2642125"/>
            <a:ext cx="98213" cy="-65883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4993640" y="2576243"/>
            <a:ext cx="98213" cy="-64216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5091853" y="2512027"/>
            <a:ext cx="98213" cy="-62380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5190067" y="2449647"/>
            <a:ext cx="98213" cy="-60397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5288280" y="2389250"/>
            <a:ext cx="98213" cy="-58293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5386493" y="2330957"/>
            <a:ext cx="98213" cy="-56089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5484707" y="2274868"/>
            <a:ext cx="98213" cy="-53809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5582920" y="2221059"/>
            <a:ext cx="98213" cy="-51476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5681133" y="2169583"/>
            <a:ext cx="98213" cy="-49111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5779347" y="2120472"/>
            <a:ext cx="98213" cy="-46734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5877560" y="2073738"/>
            <a:ext cx="98213" cy="-44362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5975773" y="2029377"/>
            <a:ext cx="98213" cy="-42012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6073987" y="1987364"/>
            <a:ext cx="98213" cy="-39699"/>
          </a:xfrm>
          <a:prstGeom prst="line">
            <a:avLst/>
          </a:prstGeom>
          <a:noFill/>
          <a:ln w="27940">
            <a:solidFill>
              <a:srgbClr val="B64A4A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6903720" y="26974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64A4A"/>
                </a:solidFill>
              </a:rPr>
              <a:t>Rank 4</a:t>
            </a:r>
            <a:endParaRPr lang="en-US" sz="1200" dirty="0"/>
          </a:p>
        </p:txBody>
      </p:sp>
      <p:sp>
        <p:nvSpPr>
          <p:cNvPr id="232" name="Shape 230"/>
          <p:cNvSpPr/>
          <p:nvPr/>
        </p:nvSpPr>
        <p:spPr>
          <a:xfrm>
            <a:off x="6720840" y="3474720"/>
            <a:ext cx="4297680" cy="914400"/>
          </a:xfrm>
          <a:prstGeom prst="roundRect">
            <a:avLst>
              <a:gd name="adj" fmla="val 6000"/>
            </a:avLst>
          </a:prstGeom>
          <a:solidFill>
            <a:srgbClr val="F4EFE5">
              <a:alpha val="90000"/>
            </a:srgbClr>
          </a:solidFill>
          <a:ln w="12700">
            <a:solidFill>
              <a:srgbClr val="F4EFE5">
                <a:alpha val="0"/>
              </a:srgbClr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6885432" y="3611880"/>
            <a:ext cx="3968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A plot often communicates more than a coefficient table, especially in nonlinear models.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In-class exercise: Challenger O-rings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A binary logit becomes a substantive risk calculation.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" y="1417320"/>
            <a:ext cx="512064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Estimate a logistic regression: failure ~ temperature.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Plot predicted probability of at least one O-ring failure by temperature.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Overlay the data as a scatterplot.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Ask: what would the model predict at 31°F?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0" y="4617720"/>
            <a:ext cx="4297680" cy="0"/>
          </a:xfrm>
          <a:prstGeom prst="line">
            <a:avLst/>
          </a:prstGeom>
          <a:noFill/>
          <a:ln w="1651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400800" y="4617720"/>
            <a:ext cx="0" cy="-3383280"/>
          </a:xfrm>
          <a:prstGeom prst="line">
            <a:avLst/>
          </a:prstGeom>
          <a:noFill/>
          <a:ln w="1651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784080" y="4727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06D"/>
                </a:solidFill>
              </a:rPr>
              <a:t>Temperature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 rot="16200000">
            <a:off x="6144768" y="11430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06D"/>
                </a:solidFill>
              </a:rPr>
              <a:t>P(failure)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46520" y="1456326"/>
            <a:ext cx="68967" cy="7016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15487" y="1463342"/>
            <a:ext cx="68967" cy="8254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4455" y="1471596"/>
            <a:ext cx="68967" cy="9703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53422" y="1481299"/>
            <a:ext cx="68967" cy="11392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22390" y="1492691"/>
            <a:ext cx="68967" cy="13359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91357" y="1506050"/>
            <a:ext cx="68967" cy="15641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60325" y="1521691"/>
            <a:ext cx="68967" cy="18281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29292" y="1539972"/>
            <a:ext cx="68967" cy="21322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98260" y="1561295"/>
            <a:ext cx="68967" cy="24810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67227" y="1586104"/>
            <a:ext cx="68967" cy="28786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6195" y="1614890"/>
            <a:ext cx="68967" cy="33291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05162" y="1648182"/>
            <a:ext cx="68967" cy="38357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74129" y="1686538"/>
            <a:ext cx="68967" cy="44001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43097" y="1730539"/>
            <a:ext cx="68967" cy="50226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12064" y="1780765"/>
            <a:ext cx="68967" cy="57006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1032" y="1837771"/>
            <a:ext cx="68967" cy="64285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49999" y="1902056"/>
            <a:ext cx="68967" cy="71970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18967" y="1974025"/>
            <a:ext cx="68967" cy="79920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87934" y="2053945"/>
            <a:ext cx="68967" cy="87951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56902" y="2141896"/>
            <a:ext cx="68967" cy="95833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25869" y="2237728"/>
            <a:ext cx="68967" cy="103297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94837" y="2341026"/>
            <a:ext cx="68967" cy="110054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63804" y="2451080"/>
            <a:ext cx="68967" cy="115807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32772" y="2566887"/>
            <a:ext cx="68967" cy="120279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01739" y="2687166"/>
            <a:ext cx="68967" cy="123243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70706" y="2810409"/>
            <a:ext cx="68967" cy="124539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39674" y="2934948"/>
            <a:ext cx="68967" cy="124094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08641" y="3059042"/>
            <a:ext cx="68967" cy="121935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77609" y="3180977"/>
            <a:ext cx="68967" cy="118178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446576" y="3299155"/>
            <a:ext cx="68967" cy="113021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15544" y="3412176"/>
            <a:ext cx="68967" cy="106721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84511" y="3518898"/>
            <a:ext cx="68967" cy="99567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653479" y="3618465"/>
            <a:ext cx="68967" cy="91855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22446" y="3710319"/>
            <a:ext cx="68967" cy="83865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791414" y="3794185"/>
            <a:ext cx="68967" cy="75850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860381" y="3870034"/>
            <a:ext cx="68967" cy="68015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929348" y="3938049"/>
            <a:ext cx="68967" cy="60522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998316" y="3998571"/>
            <a:ext cx="68967" cy="53487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067283" y="4052058"/>
            <a:ext cx="68967" cy="46985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136251" y="4099043"/>
            <a:ext cx="68967" cy="41055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205218" y="4140097"/>
            <a:ext cx="68967" cy="35706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274186" y="4175804"/>
            <a:ext cx="68967" cy="30930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343153" y="4206733"/>
            <a:ext cx="68967" cy="26698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412121" y="4233431"/>
            <a:ext cx="68967" cy="22976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481088" y="4256407"/>
            <a:ext cx="68967" cy="19721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550056" y="4276128"/>
            <a:ext cx="68967" cy="16890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619023" y="4293018"/>
            <a:ext cx="68967" cy="14437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687991" y="4307456"/>
            <a:ext cx="68967" cy="12321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756958" y="4319776"/>
            <a:ext cx="68967" cy="10500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825925" y="4330276"/>
            <a:ext cx="68967" cy="8937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894893" y="4339213"/>
            <a:ext cx="68967" cy="7600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963860" y="4346813"/>
            <a:ext cx="68967" cy="6457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032828" y="4353269"/>
            <a:ext cx="68967" cy="5481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101795" y="4358751"/>
            <a:ext cx="68967" cy="4651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170763" y="4363401"/>
            <a:ext cx="68967" cy="3944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239730" y="4367345"/>
            <a:ext cx="68967" cy="3343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308698" y="4370688"/>
            <a:ext cx="68967" cy="2832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377665" y="4373520"/>
            <a:ext cx="68967" cy="2399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446633" y="4375919"/>
            <a:ext cx="68967" cy="2031"/>
          </a:xfrm>
          <a:prstGeom prst="line">
            <a:avLst/>
          </a:prstGeom>
          <a:noFill/>
          <a:ln w="34290">
            <a:solidFill>
              <a:srgbClr val="B64A4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985643" y="4338828"/>
            <a:ext cx="100584" cy="100584"/>
          </a:xfrm>
          <a:prstGeom prst="ellipse">
            <a:avLst/>
          </a:prstGeom>
          <a:solidFill>
            <a:srgbClr val="2C5D8A"/>
          </a:solidFill>
          <a:ln w="12700">
            <a:solidFill>
              <a:srgbClr val="2C5D8A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281576" y="1367028"/>
            <a:ext cx="100584" cy="100584"/>
          </a:xfrm>
          <a:prstGeom prst="ellipse">
            <a:avLst/>
          </a:prstGeom>
          <a:solidFill>
            <a:srgbClr val="B64A4A"/>
          </a:solidFill>
          <a:ln w="12700">
            <a:solidFill>
              <a:srgbClr val="B64A4A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319793" y="1367028"/>
            <a:ext cx="100584" cy="100584"/>
          </a:xfrm>
          <a:prstGeom prst="ellipse">
            <a:avLst/>
          </a:prstGeom>
          <a:solidFill>
            <a:srgbClr val="B64A4A"/>
          </a:solidFill>
          <a:ln w="12700">
            <a:solidFill>
              <a:srgbClr val="B64A4A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763693" y="1367028"/>
            <a:ext cx="100584" cy="100584"/>
          </a:xfrm>
          <a:prstGeom prst="ellipse">
            <a:avLst/>
          </a:prstGeom>
          <a:solidFill>
            <a:srgbClr val="B64A4A"/>
          </a:solidFill>
          <a:ln w="12700">
            <a:solidFill>
              <a:srgbClr val="B64A4A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023860" y="1367028"/>
            <a:ext cx="100584" cy="100584"/>
          </a:xfrm>
          <a:prstGeom prst="ellipse">
            <a:avLst/>
          </a:prstGeom>
          <a:solidFill>
            <a:srgbClr val="B64A4A"/>
          </a:solidFill>
          <a:ln w="12700">
            <a:solidFill>
              <a:srgbClr val="B64A4A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651492" y="4338828"/>
            <a:ext cx="100584" cy="100584"/>
          </a:xfrm>
          <a:prstGeom prst="ellipse">
            <a:avLst/>
          </a:prstGeom>
          <a:solidFill>
            <a:srgbClr val="2C5D8A"/>
          </a:solidFill>
          <a:ln w="12700">
            <a:solidFill>
              <a:srgbClr val="2C5D8A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393776" y="1367028"/>
            <a:ext cx="100584" cy="100584"/>
          </a:xfrm>
          <a:prstGeom prst="ellipse">
            <a:avLst/>
          </a:prstGeom>
          <a:solidFill>
            <a:srgbClr val="B64A4A"/>
          </a:solidFill>
          <a:ln w="12700">
            <a:solidFill>
              <a:srgbClr val="B64A4A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725475" y="4338828"/>
            <a:ext cx="100584" cy="100584"/>
          </a:xfrm>
          <a:prstGeom prst="ellipse">
            <a:avLst/>
          </a:prstGeom>
          <a:solidFill>
            <a:srgbClr val="2C5D8A"/>
          </a:solidFill>
          <a:ln w="12700">
            <a:solidFill>
              <a:srgbClr val="2C5D8A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095392" y="4338828"/>
            <a:ext cx="100584" cy="100584"/>
          </a:xfrm>
          <a:prstGeom prst="ellipse">
            <a:avLst/>
          </a:prstGeom>
          <a:solidFill>
            <a:srgbClr val="2C5D8A"/>
          </a:solidFill>
          <a:ln w="12700">
            <a:solidFill>
              <a:srgbClr val="2C5D8A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51560" y="4663440"/>
            <a:ext cx="9692640" cy="658368"/>
          </a:xfrm>
          <a:prstGeom prst="roundRect">
            <a:avLst>
              <a:gd name="adj" fmla="val 8333"/>
            </a:avLst>
          </a:prstGeom>
          <a:solidFill>
            <a:srgbClr val="E39C48">
              <a:alpha val="80000"/>
            </a:srgbClr>
          </a:solidFill>
          <a:ln w="12700">
            <a:solidFill>
              <a:srgbClr val="E39C48">
                <a:alpha val="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216152" y="4800600"/>
            <a:ext cx="93634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72033"/>
                </a:solidFill>
              </a:rPr>
              <a:t>Teaching point: the model can be used to extrapolate, but extrapolation can be dangerous.</a:t>
            </a:r>
            <a:endParaRPr lang="en-US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8046720" y="-594360"/>
            <a:ext cx="5029200" cy="5029200"/>
          </a:xfrm>
          <a:prstGeom prst="arc">
            <a:avLst/>
          </a:prstGeom>
          <a:solidFill>
            <a:srgbClr val="2B9C9C">
              <a:alpha val="85000"/>
            </a:srgbClr>
          </a:solidFill>
          <a:ln w="12700">
            <a:solidFill>
              <a:srgbClr val="2B9C9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000000">
            <a:off x="-1645920" y="4389120"/>
            <a:ext cx="4297680" cy="4297680"/>
          </a:xfrm>
          <a:prstGeom prst="arc">
            <a:avLst/>
          </a:prstGeom>
          <a:solidFill>
            <a:srgbClr val="E39C48">
              <a:alpha val="80000"/>
            </a:srgbClr>
          </a:solidFill>
          <a:ln w="12700">
            <a:solidFill>
              <a:srgbClr val="E39C4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34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BDE8E6"/>
                </a:solidFill>
              </a:rPr>
              <a:t>BRIDGE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627632"/>
            <a:ext cx="923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binary outcomes to network edges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27432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7E1EA"/>
                </a:solidFill>
              </a:rPr>
              <a:t>The dependent variable can be an edge: present or absent.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BRIDGE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network edge is a binary dependent variable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For each potential edge sᵢ = (uᵢ, vᵢ), observe whether it exists.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234440" y="2224278"/>
            <a:ext cx="592074" cy="1522476"/>
          </a:xfrm>
          <a:prstGeom prst="line">
            <a:avLst/>
          </a:prstGeom>
          <a:noFill/>
          <a:ln w="30480">
            <a:solidFill>
              <a:srgbClr val="2B9C9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56916" y="1666037"/>
            <a:ext cx="930402" cy="2080717"/>
          </a:xfrm>
          <a:prstGeom prst="line">
            <a:avLst/>
          </a:prstGeom>
          <a:noFill/>
          <a:ln w="30480">
            <a:solidFill>
              <a:srgbClr val="2B9C9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79392" y="2224278"/>
            <a:ext cx="-2452878" cy="1522476"/>
          </a:xfrm>
          <a:prstGeom prst="line">
            <a:avLst/>
          </a:prstGeom>
          <a:noFill/>
          <a:ln w="15240">
            <a:solidFill>
              <a:srgbClr val="52606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34440" y="2224278"/>
            <a:ext cx="1522476" cy="-558241"/>
          </a:xfrm>
          <a:prstGeom prst="line">
            <a:avLst/>
          </a:prstGeom>
          <a:noFill/>
          <a:ln w="15240">
            <a:solidFill>
              <a:srgbClr val="E6E8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6514" y="3746754"/>
            <a:ext cx="1860804" cy="0"/>
          </a:xfrm>
          <a:prstGeom prst="line">
            <a:avLst/>
          </a:prstGeom>
          <a:noFill/>
          <a:ln w="15240">
            <a:solidFill>
              <a:srgbClr val="E6E8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9901" y="2029739"/>
            <a:ext cx="389077" cy="389077"/>
          </a:xfrm>
          <a:prstGeom prst="ellipse">
            <a:avLst/>
          </a:prstGeom>
          <a:solidFill>
            <a:srgbClr val="2C5D8A"/>
          </a:solidFill>
          <a:ln w="12700">
            <a:solidFill>
              <a:srgbClr val="2C5D8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9109" y="2097405"/>
            <a:ext cx="270662" cy="253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95" b="1" dirty="0">
                <a:solidFill>
                  <a:srgbClr val="FFFFFF"/>
                </a:solidFill>
              </a:rPr>
              <a:t>A</a:t>
            </a:r>
            <a:endParaRPr lang="en-US" sz="1295" dirty="0"/>
          </a:p>
        </p:txBody>
      </p:sp>
      <p:sp>
        <p:nvSpPr>
          <p:cNvPr id="15" name="Shape 13"/>
          <p:cNvSpPr/>
          <p:nvPr/>
        </p:nvSpPr>
        <p:spPr>
          <a:xfrm>
            <a:off x="2562377" y="1471498"/>
            <a:ext cx="389077" cy="389077"/>
          </a:xfrm>
          <a:prstGeom prst="ellipse">
            <a:avLst/>
          </a:prstGeom>
          <a:solidFill>
            <a:srgbClr val="2C5D8A"/>
          </a:solidFill>
          <a:ln w="12700">
            <a:solidFill>
              <a:srgbClr val="2C5D8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21585" y="1539164"/>
            <a:ext cx="270662" cy="253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95" b="1" dirty="0">
                <a:solidFill>
                  <a:srgbClr val="FFFFFF"/>
                </a:solidFill>
              </a:rPr>
              <a:t>B</a:t>
            </a:r>
            <a:endParaRPr lang="en-US" sz="1295" dirty="0"/>
          </a:p>
        </p:txBody>
      </p:sp>
      <p:sp>
        <p:nvSpPr>
          <p:cNvPr id="17" name="Shape 15"/>
          <p:cNvSpPr/>
          <p:nvPr/>
        </p:nvSpPr>
        <p:spPr>
          <a:xfrm>
            <a:off x="4084853" y="2029739"/>
            <a:ext cx="389077" cy="389077"/>
          </a:xfrm>
          <a:prstGeom prst="ellipse">
            <a:avLst/>
          </a:prstGeom>
          <a:solidFill>
            <a:srgbClr val="2C5D8A"/>
          </a:solidFill>
          <a:ln w="12700">
            <a:solidFill>
              <a:srgbClr val="2C5D8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44061" y="2097405"/>
            <a:ext cx="270662" cy="253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95" b="1" dirty="0">
                <a:solidFill>
                  <a:srgbClr val="FFFFFF"/>
                </a:solidFill>
              </a:rPr>
              <a:t>C</a:t>
            </a:r>
            <a:endParaRPr lang="en-US" sz="1295" dirty="0"/>
          </a:p>
        </p:txBody>
      </p:sp>
      <p:sp>
        <p:nvSpPr>
          <p:cNvPr id="19" name="Shape 17"/>
          <p:cNvSpPr/>
          <p:nvPr/>
        </p:nvSpPr>
        <p:spPr>
          <a:xfrm>
            <a:off x="1631975" y="3552215"/>
            <a:ext cx="389077" cy="389077"/>
          </a:xfrm>
          <a:prstGeom prst="ellipse">
            <a:avLst/>
          </a:prstGeom>
          <a:solidFill>
            <a:srgbClr val="E39C48"/>
          </a:solidFill>
          <a:ln w="12700">
            <a:solidFill>
              <a:srgbClr val="E39C4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183" y="3619881"/>
            <a:ext cx="270662" cy="253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95" b="1" dirty="0">
                <a:solidFill>
                  <a:srgbClr val="FFFFFF"/>
                </a:solidFill>
              </a:rPr>
              <a:t>D</a:t>
            </a:r>
            <a:endParaRPr lang="en-US" sz="1295" dirty="0"/>
          </a:p>
        </p:txBody>
      </p:sp>
      <p:sp>
        <p:nvSpPr>
          <p:cNvPr id="21" name="Shape 19"/>
          <p:cNvSpPr/>
          <p:nvPr/>
        </p:nvSpPr>
        <p:spPr>
          <a:xfrm>
            <a:off x="3492779" y="3552215"/>
            <a:ext cx="389077" cy="389077"/>
          </a:xfrm>
          <a:prstGeom prst="ellipse">
            <a:avLst/>
          </a:prstGeom>
          <a:solidFill>
            <a:srgbClr val="E39C48"/>
          </a:solidFill>
          <a:ln w="12700">
            <a:solidFill>
              <a:srgbClr val="E39C4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51987" y="3619881"/>
            <a:ext cx="270662" cy="253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95" b="1" dirty="0">
                <a:solidFill>
                  <a:srgbClr val="FFFFFF"/>
                </a:solidFill>
              </a:rPr>
              <a:t>E</a:t>
            </a:r>
            <a:endParaRPr lang="en-US" sz="1295" dirty="0"/>
          </a:p>
        </p:txBody>
      </p:sp>
      <p:sp>
        <p:nvSpPr>
          <p:cNvPr id="23" name="Shape 21"/>
          <p:cNvSpPr/>
          <p:nvPr/>
        </p:nvSpPr>
        <p:spPr>
          <a:xfrm>
            <a:off x="5760720" y="1371600"/>
            <a:ext cx="5257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25312" y="1490472"/>
            <a:ext cx="4928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Y(sᵢ) = Yᵢ = 1 if edge sᵢ is present; 0 if edge sᵢ is absent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852160" y="2560320"/>
            <a:ext cx="493776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ordinary logit model would treat each potential edge as conditionally independent given covariates.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852160" y="3703320"/>
            <a:ext cx="4800600" cy="777240"/>
          </a:xfrm>
          <a:prstGeom prst="roundRect">
            <a:avLst>
              <a:gd name="adj" fmla="val 7059"/>
            </a:avLst>
          </a:prstGeom>
          <a:solidFill>
            <a:srgbClr val="BDE8E6">
              <a:alpha val="90000"/>
            </a:srgbClr>
          </a:solidFill>
          <a:ln w="12700">
            <a:solidFill>
              <a:srgbClr val="BDE8E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16752" y="3840480"/>
            <a:ext cx="4471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But many network theories say that edges react to other edges.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LSGM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LSGM?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Some theories are about local dependence among possible ties.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548640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Do countries form alliances in response to rivals or allies doing the same?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Do coalition ties form to balance against other coalitions?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Do attacks in one location make nearby attacks more or less likely?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406640" y="1842516"/>
            <a:ext cx="544068" cy="1399032"/>
          </a:xfrm>
          <a:prstGeom prst="line">
            <a:avLst/>
          </a:prstGeom>
          <a:noFill/>
          <a:ln w="30480">
            <a:solidFill>
              <a:srgbClr val="2B9C9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05672" y="1329538"/>
            <a:ext cx="854964" cy="1912010"/>
          </a:xfrm>
          <a:prstGeom prst="line">
            <a:avLst/>
          </a:prstGeom>
          <a:noFill/>
          <a:ln w="30480">
            <a:solidFill>
              <a:srgbClr val="2B9C9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04704" y="1842516"/>
            <a:ext cx="-2253996" cy="1399032"/>
          </a:xfrm>
          <a:prstGeom prst="line">
            <a:avLst/>
          </a:prstGeom>
          <a:noFill/>
          <a:ln w="15240">
            <a:solidFill>
              <a:srgbClr val="5260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06640" y="1842516"/>
            <a:ext cx="1399032" cy="-512978"/>
          </a:xfrm>
          <a:prstGeom prst="line">
            <a:avLst/>
          </a:prstGeom>
          <a:noFill/>
          <a:ln w="15240">
            <a:solidFill>
              <a:srgbClr val="E6E8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0708" y="3241548"/>
            <a:ext cx="1709928" cy="0"/>
          </a:xfrm>
          <a:prstGeom prst="line">
            <a:avLst/>
          </a:prstGeom>
          <a:noFill/>
          <a:ln w="15240">
            <a:solidFill>
              <a:srgbClr val="E6E8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27875" y="1663751"/>
            <a:ext cx="357530" cy="357530"/>
          </a:xfrm>
          <a:prstGeom prst="ellipse">
            <a:avLst/>
          </a:prstGeom>
          <a:solidFill>
            <a:srgbClr val="2C5D8A"/>
          </a:solidFill>
          <a:ln w="12700">
            <a:solidFill>
              <a:srgbClr val="2C5D8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82282" y="1725930"/>
            <a:ext cx="248717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0" b="1" dirty="0">
                <a:solidFill>
                  <a:srgbClr val="FFFFFF"/>
                </a:solidFill>
              </a:rPr>
              <a:t>A</a:t>
            </a:r>
            <a:endParaRPr lang="en-US" sz="1190" dirty="0"/>
          </a:p>
        </p:txBody>
      </p:sp>
      <p:sp>
        <p:nvSpPr>
          <p:cNvPr id="16" name="Shape 14"/>
          <p:cNvSpPr/>
          <p:nvPr/>
        </p:nvSpPr>
        <p:spPr>
          <a:xfrm>
            <a:off x="8626907" y="1150772"/>
            <a:ext cx="357530" cy="357530"/>
          </a:xfrm>
          <a:prstGeom prst="ellipse">
            <a:avLst/>
          </a:prstGeom>
          <a:solidFill>
            <a:srgbClr val="2C5D8A"/>
          </a:solidFill>
          <a:ln w="12700">
            <a:solidFill>
              <a:srgbClr val="2C5D8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1314" y="1212952"/>
            <a:ext cx="248717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0" b="1" dirty="0">
                <a:solidFill>
                  <a:srgbClr val="FFFFFF"/>
                </a:solidFill>
              </a:rPr>
              <a:t>B</a:t>
            </a:r>
            <a:endParaRPr lang="en-US" sz="1190" dirty="0"/>
          </a:p>
        </p:txBody>
      </p:sp>
      <p:sp>
        <p:nvSpPr>
          <p:cNvPr id="18" name="Shape 16"/>
          <p:cNvSpPr/>
          <p:nvPr/>
        </p:nvSpPr>
        <p:spPr>
          <a:xfrm>
            <a:off x="10025939" y="1663751"/>
            <a:ext cx="357530" cy="357530"/>
          </a:xfrm>
          <a:prstGeom prst="ellipse">
            <a:avLst/>
          </a:prstGeom>
          <a:solidFill>
            <a:srgbClr val="2C5D8A"/>
          </a:solidFill>
          <a:ln w="12700">
            <a:solidFill>
              <a:srgbClr val="2C5D8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80346" y="1725930"/>
            <a:ext cx="248717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0" b="1" dirty="0">
                <a:solidFill>
                  <a:srgbClr val="FFFFFF"/>
                </a:solidFill>
              </a:rPr>
              <a:t>C</a:t>
            </a:r>
            <a:endParaRPr lang="en-US" sz="1190" dirty="0"/>
          </a:p>
        </p:txBody>
      </p:sp>
      <p:sp>
        <p:nvSpPr>
          <p:cNvPr id="20" name="Shape 18"/>
          <p:cNvSpPr/>
          <p:nvPr/>
        </p:nvSpPr>
        <p:spPr>
          <a:xfrm>
            <a:off x="7771943" y="3062783"/>
            <a:ext cx="357530" cy="357530"/>
          </a:xfrm>
          <a:prstGeom prst="ellipse">
            <a:avLst/>
          </a:prstGeom>
          <a:solidFill>
            <a:srgbClr val="E39C48"/>
          </a:solidFill>
          <a:ln w="12700">
            <a:solidFill>
              <a:srgbClr val="E39C4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26350" y="3124962"/>
            <a:ext cx="248717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0" b="1" dirty="0">
                <a:solidFill>
                  <a:srgbClr val="FFFFFF"/>
                </a:solidFill>
              </a:rPr>
              <a:t>D</a:t>
            </a:r>
            <a:endParaRPr lang="en-US" sz="1190" dirty="0"/>
          </a:p>
        </p:txBody>
      </p:sp>
      <p:sp>
        <p:nvSpPr>
          <p:cNvPr id="22" name="Shape 20"/>
          <p:cNvSpPr/>
          <p:nvPr/>
        </p:nvSpPr>
        <p:spPr>
          <a:xfrm>
            <a:off x="9481871" y="3062783"/>
            <a:ext cx="357530" cy="357530"/>
          </a:xfrm>
          <a:prstGeom prst="ellipse">
            <a:avLst/>
          </a:prstGeom>
          <a:solidFill>
            <a:srgbClr val="E39C48"/>
          </a:solidFill>
          <a:ln w="12700">
            <a:solidFill>
              <a:srgbClr val="E39C4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36278" y="3124962"/>
            <a:ext cx="248717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0" b="1" dirty="0">
                <a:solidFill>
                  <a:srgbClr val="FFFFFF"/>
                </a:solidFill>
              </a:rPr>
              <a:t>E</a:t>
            </a:r>
            <a:endParaRPr lang="en-US" sz="1190" dirty="0"/>
          </a:p>
        </p:txBody>
      </p:sp>
      <p:sp>
        <p:nvSpPr>
          <p:cNvPr id="24" name="Shape 22"/>
          <p:cNvSpPr/>
          <p:nvPr/>
        </p:nvSpPr>
        <p:spPr>
          <a:xfrm>
            <a:off x="8046720" y="4297680"/>
            <a:ext cx="1005840" cy="0"/>
          </a:xfrm>
          <a:prstGeom prst="line">
            <a:avLst/>
          </a:prstGeom>
          <a:noFill/>
          <a:ln w="1651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235440" y="3840480"/>
            <a:ext cx="1325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00032" y="3959352"/>
            <a:ext cx="99669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edge j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affects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edge i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05840" y="4754880"/>
            <a:ext cx="9966960" cy="749808"/>
          </a:xfrm>
          <a:prstGeom prst="roundRect">
            <a:avLst>
              <a:gd name="adj" fmla="val 7317"/>
            </a:avLst>
          </a:prstGeom>
          <a:solidFill>
            <a:srgbClr val="E39C48">
              <a:alpha val="80000"/>
            </a:srgbClr>
          </a:solidFill>
          <a:ln w="12700">
            <a:solidFill>
              <a:srgbClr val="E39C4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70432" y="4892040"/>
            <a:ext cx="96377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72033"/>
                </a:solidFill>
              </a:rPr>
              <a:t>LSGM keeps the binary-response logic but allows the probability of one edge to depend on neighboring edges.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LSGM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Potential edges become observations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The rows of the data are potential edge-pairs, not actors.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22</a:t>
            </a:r>
            <a:endParaRPr lang="en-US" sz="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280160"/>
          <a:ext cx="4937760" cy="2011680"/>
        </p:xfrm>
        <a:graphic>
          <a:graphicData uri="http://schemas.openxmlformats.org/drawingml/2006/table">
            <a:tbl>
              <a:tblPr/>
              <a:tblGrid>
                <a:gridCol w="1234440"/>
                <a:gridCol w="1234440"/>
                <a:gridCol w="1234440"/>
                <a:gridCol w="123444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172033"/>
                          </a:solidFill>
                        </a:rPr>
                        <a:t>edge_id</a:t>
                      </a:r>
                      <a:endParaRPr lang="en-US" sz="122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172033"/>
                          </a:solidFill>
                        </a:rPr>
                        <a:t>Y</a:t>
                      </a:r>
                      <a:endParaRPr lang="en-US" sz="122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172033"/>
                          </a:solidFill>
                        </a:rPr>
                        <a:t>trade</a:t>
                      </a:r>
                      <a:endParaRPr lang="en-US" sz="122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172033"/>
                          </a:solidFill>
                        </a:rPr>
                        <a:t>mil_ratio</a:t>
                      </a:r>
                      <a:endParaRPr lang="en-US" sz="122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172033"/>
                          </a:solidFill>
                        </a:rPr>
                        <a:t>1–2</a:t>
                      </a:r>
                      <a:endParaRPr lang="en-US" sz="122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172033"/>
                          </a:solidFill>
                        </a:rPr>
                        <a:t>1</a:t>
                      </a:r>
                      <a:endParaRPr lang="en-US" sz="122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172033"/>
                          </a:solidFill>
                        </a:rPr>
                        <a:t>0.36</a:t>
                      </a:r>
                      <a:endParaRPr lang="en-US" sz="122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172033"/>
                          </a:solidFill>
                        </a:rPr>
                        <a:t>1.4</a:t>
                      </a:r>
                      <a:endParaRPr lang="en-US" sz="122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172033"/>
                          </a:solidFill>
                        </a:rPr>
                        <a:t>1–3</a:t>
                      </a:r>
                      <a:endParaRPr lang="en-US" sz="122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172033"/>
                          </a:solidFill>
                        </a:rPr>
                        <a:t>0</a:t>
                      </a:r>
                      <a:endParaRPr lang="en-US" sz="122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172033"/>
                          </a:solidFill>
                        </a:rPr>
                        <a:t>0.12</a:t>
                      </a:r>
                      <a:endParaRPr lang="en-US" sz="122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172033"/>
                          </a:solidFill>
                        </a:rPr>
                        <a:t>0.8</a:t>
                      </a:r>
                      <a:endParaRPr lang="en-US" sz="122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172033"/>
                          </a:solidFill>
                        </a:rPr>
                        <a:t>1–4</a:t>
                      </a:r>
                      <a:endParaRPr lang="en-US" sz="122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172033"/>
                          </a:solidFill>
                        </a:rPr>
                        <a:t>0</a:t>
                      </a:r>
                      <a:endParaRPr lang="en-US" sz="122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172033"/>
                          </a:solidFill>
                        </a:rPr>
                        <a:t>0.49</a:t>
                      </a:r>
                      <a:endParaRPr lang="en-US" sz="122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172033"/>
                          </a:solidFill>
                        </a:rPr>
                        <a:t>2.2</a:t>
                      </a:r>
                      <a:endParaRPr lang="en-US" sz="122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172033"/>
                          </a:solidFill>
                        </a:rPr>
                        <a:t>2–3</a:t>
                      </a:r>
                      <a:endParaRPr lang="en-US" sz="122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172033"/>
                          </a:solidFill>
                        </a:rPr>
                        <a:t>1</a:t>
                      </a:r>
                      <a:endParaRPr lang="en-US" sz="122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172033"/>
                          </a:solidFill>
                        </a:rPr>
                        <a:t>0.22</a:t>
                      </a:r>
                      <a:endParaRPr lang="en-US" sz="122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172033"/>
                          </a:solidFill>
                        </a:rPr>
                        <a:t>0.9</a:t>
                      </a:r>
                      <a:endParaRPr lang="en-US" sz="122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172033"/>
                          </a:solidFill>
                        </a:rPr>
                        <a:t>2–4</a:t>
                      </a:r>
                      <a:endParaRPr lang="en-US" sz="122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172033"/>
                          </a:solidFill>
                        </a:rPr>
                        <a:t>0</a:t>
                      </a:r>
                      <a:endParaRPr lang="en-US" sz="122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172033"/>
                          </a:solidFill>
                        </a:rPr>
                        <a:t>0.08</a:t>
                      </a:r>
                      <a:endParaRPr lang="en-US" sz="122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172033"/>
                          </a:solidFill>
                        </a:rPr>
                        <a:t>3.1</a:t>
                      </a:r>
                      <a:endParaRPr lang="en-US" sz="1220" dirty="0"/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0" y="1417320"/>
            <a:ext cx="41605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65392" y="1536192"/>
            <a:ext cx="3831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logit(κᵢ) = Xᵢᵀβ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446520" y="2423160"/>
            <a:ext cx="429768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κᵢ is the baseline edge probability implied by exogenous covariates. It is what a standard logit would estimate before local dependence enters.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446520" y="3977640"/>
            <a:ext cx="4297680" cy="822960"/>
          </a:xfrm>
          <a:prstGeom prst="roundRect">
            <a:avLst>
              <a:gd name="adj" fmla="val 6667"/>
            </a:avLst>
          </a:prstGeom>
          <a:solidFill>
            <a:srgbClr val="BDE8E6">
              <a:alpha val="90000"/>
            </a:srgbClr>
          </a:solidFill>
          <a:ln w="12700">
            <a:solidFill>
              <a:srgbClr val="BDE8E6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11112" y="4114800"/>
            <a:ext cx="3968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The LSGM then asks whether nearby edges push Yᵢ above or below this baseline.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LSGM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Define a connectivity matrix W among potential edges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W says which edges are “neighbors” in the local structure.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234440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25272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216152" y="1234440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16152" y="125272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563624" y="1234440"/>
            <a:ext cx="347472" cy="347472"/>
          </a:xfrm>
          <a:prstGeom prst="rect">
            <a:avLst/>
          </a:prstGeom>
          <a:solidFill>
            <a:srgbClr val="BDE8E6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63624" y="125272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72033"/>
                </a:solidFill>
              </a:rPr>
              <a:t>1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911096" y="1234440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11096" y="125272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258568" y="1234440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58568" y="125272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606040" y="1234440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125272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953512" y="1234440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53512" y="125272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300984" y="1234440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00984" y="125272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868680" y="1581912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160020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216152" y="1581912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16152" y="160020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563624" y="1581912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63624" y="160020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911096" y="1581912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11096" y="160020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258568" y="1581912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58568" y="160020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606040" y="1581912"/>
            <a:ext cx="347472" cy="347472"/>
          </a:xfrm>
          <a:prstGeom prst="rect">
            <a:avLst/>
          </a:prstGeom>
          <a:solidFill>
            <a:srgbClr val="BDE8E6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06040" y="160020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72033"/>
                </a:solidFill>
              </a:rPr>
              <a:t>1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953512" y="1581912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53512" y="160020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300984" y="1581912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00984" y="160020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868680" y="1929384"/>
            <a:ext cx="347472" cy="347472"/>
          </a:xfrm>
          <a:prstGeom prst="rect">
            <a:avLst/>
          </a:prstGeom>
          <a:solidFill>
            <a:srgbClr val="BDE8E6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8680" y="194767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72033"/>
                </a:solidFill>
              </a:rPr>
              <a:t>1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216152" y="1929384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16152" y="194767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1563624" y="1929384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563624" y="194767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911096" y="1929384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911096" y="194767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2258568" y="1929384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58568" y="194767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2606040" y="1929384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606040" y="194767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2953512" y="1929384"/>
            <a:ext cx="347472" cy="347472"/>
          </a:xfrm>
          <a:prstGeom prst="rect">
            <a:avLst/>
          </a:prstGeom>
          <a:solidFill>
            <a:srgbClr val="BDE8E6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53512" y="194767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72033"/>
                </a:solidFill>
              </a:rPr>
              <a:t>1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3300984" y="1929384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00984" y="194767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868680" y="2276856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8680" y="229514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1216152" y="2276856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216152" y="229514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1563624" y="2276856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563624" y="229514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1911096" y="2276856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911096" y="229514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2258568" y="2276856"/>
            <a:ext cx="347472" cy="347472"/>
          </a:xfrm>
          <a:prstGeom prst="rect">
            <a:avLst/>
          </a:prstGeom>
          <a:solidFill>
            <a:srgbClr val="BDE8E6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258568" y="229514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72033"/>
                </a:solidFill>
              </a:rPr>
              <a:t>1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2606040" y="2276856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606040" y="229514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2953512" y="2276856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953512" y="229514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3300984" y="2276856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00984" y="229514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868680" y="2624328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68680" y="264261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1216152" y="2624328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216152" y="264261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1563624" y="2624328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563624" y="264261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1911096" y="2624328"/>
            <a:ext cx="347472" cy="347472"/>
          </a:xfrm>
          <a:prstGeom prst="rect">
            <a:avLst/>
          </a:prstGeom>
          <a:solidFill>
            <a:srgbClr val="BDE8E6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911096" y="264261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72033"/>
                </a:solidFill>
              </a:rPr>
              <a:t>1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2258568" y="2624328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258568" y="264261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2606040" y="2624328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606040" y="264261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2953512" y="2624328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953512" y="264261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3300984" y="2624328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00984" y="264261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868680" y="2971800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68680" y="299008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1216152" y="2971800"/>
            <a:ext cx="347472" cy="347472"/>
          </a:xfrm>
          <a:prstGeom prst="rect">
            <a:avLst/>
          </a:prstGeom>
          <a:solidFill>
            <a:srgbClr val="BDE8E6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216152" y="299008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72033"/>
                </a:solidFill>
              </a:rPr>
              <a:t>1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1563624" y="2971800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563624" y="299008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1911096" y="2971800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911096" y="299008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2258568" y="2971800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258568" y="299008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2606040" y="2971800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606040" y="299008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2953512" y="2971800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953512" y="299008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3300984" y="2971800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00984" y="299008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868680" y="3319272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68680" y="333756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1216152" y="3319272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216152" y="333756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1563624" y="3319272"/>
            <a:ext cx="347472" cy="347472"/>
          </a:xfrm>
          <a:prstGeom prst="rect">
            <a:avLst/>
          </a:prstGeom>
          <a:solidFill>
            <a:srgbClr val="BDE8E6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563624" y="333756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72033"/>
                </a:solidFill>
              </a:rPr>
              <a:t>1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1911096" y="3319272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911096" y="333756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2258568" y="3319272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2258568" y="333756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114" name="Shape 112"/>
          <p:cNvSpPr/>
          <p:nvPr/>
        </p:nvSpPr>
        <p:spPr>
          <a:xfrm>
            <a:off x="2606040" y="3319272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606040" y="333756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116" name="Shape 114"/>
          <p:cNvSpPr/>
          <p:nvPr/>
        </p:nvSpPr>
        <p:spPr>
          <a:xfrm>
            <a:off x="2953512" y="3319272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2953512" y="333756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3300984" y="3319272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300984" y="333756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120" name="Shape 118"/>
          <p:cNvSpPr/>
          <p:nvPr/>
        </p:nvSpPr>
        <p:spPr>
          <a:xfrm>
            <a:off x="868680" y="3666744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868680" y="368503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1216152" y="3666744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216152" y="368503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1563624" y="3666744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563624" y="368503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126" name="Shape 124"/>
          <p:cNvSpPr/>
          <p:nvPr/>
        </p:nvSpPr>
        <p:spPr>
          <a:xfrm>
            <a:off x="1911096" y="3666744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911096" y="368503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2258568" y="3666744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2258568" y="368503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130" name="Shape 128"/>
          <p:cNvSpPr/>
          <p:nvPr/>
        </p:nvSpPr>
        <p:spPr>
          <a:xfrm>
            <a:off x="2606040" y="3666744"/>
            <a:ext cx="347472" cy="347472"/>
          </a:xfrm>
          <a:prstGeom prst="rect">
            <a:avLst/>
          </a:prstGeom>
          <a:solidFill>
            <a:srgbClr val="BDE8E6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2606040" y="368503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72033"/>
                </a:solidFill>
              </a:rPr>
              <a:t>1</a:t>
            </a:r>
            <a:endParaRPr lang="en-US" sz="700" dirty="0"/>
          </a:p>
        </p:txBody>
      </p:sp>
      <p:sp>
        <p:nvSpPr>
          <p:cNvPr id="132" name="Shape 130"/>
          <p:cNvSpPr/>
          <p:nvPr/>
        </p:nvSpPr>
        <p:spPr>
          <a:xfrm>
            <a:off x="2953512" y="3666744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2953512" y="368503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3300984" y="3666744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3300984" y="368503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136" name="Text 134"/>
          <p:cNvSpPr/>
          <p:nvPr/>
        </p:nvSpPr>
        <p:spPr>
          <a:xfrm>
            <a:off x="3977640" y="1325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33"/>
                </a:solidFill>
              </a:rPr>
              <a:t>Wᵢⱼ = 1 means edge j is a neighbor of edge i</a:t>
            </a:r>
            <a:endParaRPr lang="en-US" sz="1550" dirty="0"/>
          </a:p>
        </p:txBody>
      </p:sp>
      <p:sp>
        <p:nvSpPr>
          <p:cNvPr id="137" name="Text 135"/>
          <p:cNvSpPr/>
          <p:nvPr/>
        </p:nvSpPr>
        <p:spPr>
          <a:xfrm>
            <a:off x="3977640" y="24231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2606D"/>
                </a:solidFill>
              </a:rPr>
              <a:t>W can also be continuous, such as geographic distance, shared-node similarity, or theoretical relatedness.</a:t>
            </a:r>
            <a:endParaRPr lang="en-US" sz="1550" dirty="0"/>
          </a:p>
        </p:txBody>
      </p:sp>
      <p:sp>
        <p:nvSpPr>
          <p:cNvPr id="138" name="Shape 136"/>
          <p:cNvSpPr/>
          <p:nvPr/>
        </p:nvSpPr>
        <p:spPr>
          <a:xfrm>
            <a:off x="8183880" y="1922526"/>
            <a:ext cx="464058" cy="1193292"/>
          </a:xfrm>
          <a:prstGeom prst="line">
            <a:avLst/>
          </a:prstGeom>
          <a:noFill/>
          <a:ln w="30480">
            <a:solidFill>
              <a:srgbClr val="2B9C9C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9377172" y="1484986"/>
            <a:ext cx="729234" cy="1630832"/>
          </a:xfrm>
          <a:prstGeom prst="line">
            <a:avLst/>
          </a:prstGeom>
          <a:noFill/>
          <a:ln w="30480">
            <a:solidFill>
              <a:srgbClr val="2B9C9C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0570464" y="1922526"/>
            <a:ext cx="-1922526" cy="1193292"/>
          </a:xfrm>
          <a:prstGeom prst="line">
            <a:avLst/>
          </a:prstGeom>
          <a:noFill/>
          <a:ln w="15240">
            <a:solidFill>
              <a:srgbClr val="52606D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183880" y="1922526"/>
            <a:ext cx="1193292" cy="-437540"/>
          </a:xfrm>
          <a:prstGeom prst="line">
            <a:avLst/>
          </a:prstGeom>
          <a:noFill/>
          <a:ln w="15240">
            <a:solidFill>
              <a:srgbClr val="E6E8EC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647938" y="3115818"/>
            <a:ext cx="1458468" cy="0"/>
          </a:xfrm>
          <a:prstGeom prst="line">
            <a:avLst/>
          </a:prstGeom>
          <a:noFill/>
          <a:ln w="15240">
            <a:solidFill>
              <a:srgbClr val="E6E8EC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8031404" y="1770050"/>
            <a:ext cx="304952" cy="304952"/>
          </a:xfrm>
          <a:prstGeom prst="ellipse">
            <a:avLst/>
          </a:prstGeom>
          <a:solidFill>
            <a:srgbClr val="2C5D8A"/>
          </a:solidFill>
          <a:ln w="12700">
            <a:solidFill>
              <a:srgbClr val="2C5D8A">
                <a:alpha val="0"/>
              </a:srgbClr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8077810" y="1823085"/>
            <a:ext cx="212141" cy="198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5" b="1" dirty="0">
                <a:solidFill>
                  <a:srgbClr val="FFFFFF"/>
                </a:solidFill>
              </a:rPr>
              <a:t>A</a:t>
            </a:r>
            <a:endParaRPr lang="en-US" sz="1015" dirty="0"/>
          </a:p>
        </p:txBody>
      </p:sp>
      <p:sp>
        <p:nvSpPr>
          <p:cNvPr id="145" name="Shape 143"/>
          <p:cNvSpPr/>
          <p:nvPr/>
        </p:nvSpPr>
        <p:spPr>
          <a:xfrm>
            <a:off x="9224696" y="1332509"/>
            <a:ext cx="304952" cy="304952"/>
          </a:xfrm>
          <a:prstGeom prst="ellipse">
            <a:avLst/>
          </a:prstGeom>
          <a:solidFill>
            <a:srgbClr val="2C5D8A"/>
          </a:solidFill>
          <a:ln w="12700">
            <a:solidFill>
              <a:srgbClr val="2C5D8A">
                <a:alpha val="0"/>
              </a:srgbClr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9271102" y="1385545"/>
            <a:ext cx="212141" cy="198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5" b="1" dirty="0">
                <a:solidFill>
                  <a:srgbClr val="FFFFFF"/>
                </a:solidFill>
              </a:rPr>
              <a:t>B</a:t>
            </a:r>
            <a:endParaRPr lang="en-US" sz="1015" dirty="0"/>
          </a:p>
        </p:txBody>
      </p:sp>
      <p:sp>
        <p:nvSpPr>
          <p:cNvPr id="147" name="Shape 145"/>
          <p:cNvSpPr/>
          <p:nvPr/>
        </p:nvSpPr>
        <p:spPr>
          <a:xfrm>
            <a:off x="10417988" y="1770050"/>
            <a:ext cx="304952" cy="304952"/>
          </a:xfrm>
          <a:prstGeom prst="ellipse">
            <a:avLst/>
          </a:prstGeom>
          <a:solidFill>
            <a:srgbClr val="2C5D8A"/>
          </a:solidFill>
          <a:ln w="12700">
            <a:solidFill>
              <a:srgbClr val="2C5D8A">
                <a:alpha val="0"/>
              </a:srgbClr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10464394" y="1823085"/>
            <a:ext cx="212141" cy="198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5" b="1" dirty="0">
                <a:solidFill>
                  <a:srgbClr val="FFFFFF"/>
                </a:solidFill>
              </a:rPr>
              <a:t>C</a:t>
            </a:r>
            <a:endParaRPr lang="en-US" sz="1015" dirty="0"/>
          </a:p>
        </p:txBody>
      </p:sp>
      <p:sp>
        <p:nvSpPr>
          <p:cNvPr id="149" name="Shape 147"/>
          <p:cNvSpPr/>
          <p:nvPr/>
        </p:nvSpPr>
        <p:spPr>
          <a:xfrm>
            <a:off x="8495462" y="2963342"/>
            <a:ext cx="304952" cy="304952"/>
          </a:xfrm>
          <a:prstGeom prst="ellipse">
            <a:avLst/>
          </a:prstGeom>
          <a:solidFill>
            <a:srgbClr val="E39C48"/>
          </a:solidFill>
          <a:ln w="12700">
            <a:solidFill>
              <a:srgbClr val="E39C48">
                <a:alpha val="0"/>
              </a:srgbClr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8541868" y="3016377"/>
            <a:ext cx="212141" cy="198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5" b="1" dirty="0">
                <a:solidFill>
                  <a:srgbClr val="FFFFFF"/>
                </a:solidFill>
              </a:rPr>
              <a:t>D</a:t>
            </a:r>
            <a:endParaRPr lang="en-US" sz="1015" dirty="0"/>
          </a:p>
        </p:txBody>
      </p:sp>
      <p:sp>
        <p:nvSpPr>
          <p:cNvPr id="151" name="Shape 149"/>
          <p:cNvSpPr/>
          <p:nvPr/>
        </p:nvSpPr>
        <p:spPr>
          <a:xfrm>
            <a:off x="9953930" y="2963342"/>
            <a:ext cx="304952" cy="304952"/>
          </a:xfrm>
          <a:prstGeom prst="ellipse">
            <a:avLst/>
          </a:prstGeom>
          <a:solidFill>
            <a:srgbClr val="E39C48"/>
          </a:solidFill>
          <a:ln w="12700">
            <a:solidFill>
              <a:srgbClr val="E39C48">
                <a:alpha val="0"/>
              </a:srgbClr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10000336" y="3016377"/>
            <a:ext cx="212141" cy="198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5" b="1" dirty="0">
                <a:solidFill>
                  <a:srgbClr val="FFFFFF"/>
                </a:solidFill>
              </a:rPr>
              <a:t>E</a:t>
            </a:r>
            <a:endParaRPr lang="en-US" sz="1015" dirty="0"/>
          </a:p>
        </p:txBody>
      </p:sp>
      <p:sp>
        <p:nvSpPr>
          <p:cNvPr id="153" name="Shape 151"/>
          <p:cNvSpPr/>
          <p:nvPr/>
        </p:nvSpPr>
        <p:spPr>
          <a:xfrm>
            <a:off x="7360920" y="425196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E39C48">
              <a:alpha val="80000"/>
            </a:srgbClr>
          </a:solidFill>
          <a:ln w="12700">
            <a:solidFill>
              <a:srgbClr val="E39C48">
                <a:alpha val="0"/>
              </a:srgbClr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7525512" y="4389120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Key modeling choice: W is the theory.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Different W matrices encode different dependence mechanisms.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LSGM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Markov assumption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Condition on neighbors rather than the entire network.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234440"/>
            <a:ext cx="10332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353312"/>
            <a:ext cx="100035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f(Y(sᵢ) | Y(sⱼ): sⱼ ≠ sᵢ) = f(Y(sᵢ) | Y(Nᵢ))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371600" y="3310128"/>
            <a:ext cx="512064" cy="1316736"/>
          </a:xfrm>
          <a:prstGeom prst="line">
            <a:avLst/>
          </a:prstGeom>
          <a:noFill/>
          <a:ln w="30480">
            <a:solidFill>
              <a:srgbClr val="2B9C9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88336" y="2827325"/>
            <a:ext cx="804672" cy="1799539"/>
          </a:xfrm>
          <a:prstGeom prst="line">
            <a:avLst/>
          </a:prstGeom>
          <a:noFill/>
          <a:ln w="30480">
            <a:solidFill>
              <a:srgbClr val="2B9C9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05072" y="3310128"/>
            <a:ext cx="-2121408" cy="1316736"/>
          </a:xfrm>
          <a:prstGeom prst="line">
            <a:avLst/>
          </a:prstGeom>
          <a:noFill/>
          <a:ln w="15240">
            <a:solidFill>
              <a:srgbClr val="52606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3310128"/>
            <a:ext cx="1316736" cy="-482803"/>
          </a:xfrm>
          <a:prstGeom prst="line">
            <a:avLst/>
          </a:prstGeom>
          <a:noFill/>
          <a:ln w="15240">
            <a:solidFill>
              <a:srgbClr val="E6E8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83664" y="4626864"/>
            <a:ext cx="1609344" cy="0"/>
          </a:xfrm>
          <a:prstGeom prst="line">
            <a:avLst/>
          </a:prstGeom>
          <a:noFill/>
          <a:ln w="15240">
            <a:solidFill>
              <a:srgbClr val="E6E8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03350" y="3141878"/>
            <a:ext cx="336499" cy="336499"/>
          </a:xfrm>
          <a:prstGeom prst="ellipse">
            <a:avLst/>
          </a:prstGeom>
          <a:solidFill>
            <a:srgbClr val="2C5D8A"/>
          </a:solidFill>
          <a:ln w="12700">
            <a:solidFill>
              <a:srgbClr val="2C5D8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54557" y="3200400"/>
            <a:ext cx="2340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A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2520086" y="2659075"/>
            <a:ext cx="336499" cy="336499"/>
          </a:xfrm>
          <a:prstGeom prst="ellipse">
            <a:avLst/>
          </a:prstGeom>
          <a:solidFill>
            <a:srgbClr val="2C5D8A"/>
          </a:solidFill>
          <a:ln w="12700">
            <a:solidFill>
              <a:srgbClr val="2C5D8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71293" y="2717597"/>
            <a:ext cx="2340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B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3836822" y="3141878"/>
            <a:ext cx="336499" cy="336499"/>
          </a:xfrm>
          <a:prstGeom prst="ellipse">
            <a:avLst/>
          </a:prstGeom>
          <a:solidFill>
            <a:srgbClr val="2C5D8A"/>
          </a:solidFill>
          <a:ln w="12700">
            <a:solidFill>
              <a:srgbClr val="2C5D8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88029" y="3200400"/>
            <a:ext cx="2340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C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1715414" y="4458614"/>
            <a:ext cx="336499" cy="336499"/>
          </a:xfrm>
          <a:prstGeom prst="ellipse">
            <a:avLst/>
          </a:prstGeom>
          <a:solidFill>
            <a:srgbClr val="E39C48"/>
          </a:solidFill>
          <a:ln w="12700">
            <a:solidFill>
              <a:srgbClr val="E39C4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66621" y="4517136"/>
            <a:ext cx="2340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D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3324758" y="4458614"/>
            <a:ext cx="336499" cy="336499"/>
          </a:xfrm>
          <a:prstGeom prst="ellipse">
            <a:avLst/>
          </a:prstGeom>
          <a:solidFill>
            <a:srgbClr val="E39C48"/>
          </a:solidFill>
          <a:ln w="12700">
            <a:solidFill>
              <a:srgbClr val="E39C4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75965" y="4517136"/>
            <a:ext cx="2340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E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1783080" y="2743200"/>
            <a:ext cx="2103120" cy="1828800"/>
          </a:xfrm>
          <a:prstGeom prst="arc">
            <a:avLst/>
          </a:prstGeom>
          <a:solidFill>
            <a:srgbClr val="BDE8E6">
              <a:alpha val="55000"/>
            </a:srgbClr>
          </a:solidFill>
          <a:ln w="17780">
            <a:solidFill>
              <a:srgbClr val="2B9C9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423160"/>
            <a:ext cx="585216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Nᵢ is the set of potential edges connected to edge i by W.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The conditional model is local: only neighbors enter directly.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If W is continuous, the Markov language is less important; all edges can contribute with different weights.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LSGM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Binary conditional distribution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This is the logit kernel rewritten for local dependence.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234440"/>
            <a:ext cx="10561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353312"/>
            <a:ext cx="102321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P(Yᵢ = yᵢ | y(Nᵢ)) = exp{ Aᵢ[y(Nᵢ)] yᵢ − Bᵢ[y(Nᵢ)] }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005840" y="2331720"/>
            <a:ext cx="4846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2450592"/>
            <a:ext cx="4517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Bᵢ = log{ 1 + exp(Aᵢ) }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05840" y="3310128"/>
            <a:ext cx="96926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429000"/>
            <a:ext cx="93634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Therefore:  P(Yᵢ=1 | y(Nᵢ)) = exp(Aᵢ) / [1 + exp(Aᵢ)]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828800" y="4617720"/>
            <a:ext cx="8503920" cy="731520"/>
          </a:xfrm>
          <a:prstGeom prst="roundRect">
            <a:avLst>
              <a:gd name="adj" fmla="val 7500"/>
            </a:avLst>
          </a:prstGeom>
          <a:solidFill>
            <a:srgbClr val="BDE8E6">
              <a:alpha val="90000"/>
            </a:srgbClr>
          </a:solidFill>
          <a:ln w="12700">
            <a:solidFill>
              <a:srgbClr val="BDE8E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93392" y="475488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72033"/>
                </a:solidFill>
              </a:rPr>
              <a:t>Aᵢ is the natural parameter: the log-odds of edge i, conditional on its local environment.</a:t>
            </a:r>
            <a:endParaRPr lang="en-US" sz="16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LSGM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Natural parameter function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LSGM = baseline logit + local dependence.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188720"/>
            <a:ext cx="10972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307592"/>
            <a:ext cx="10643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Aᵢ(y(Nᵢ)) = log[κᵢ/(1−κᵢ)] + η Σⱼ∈Nᵢ wᵢⱼ (yⱼ − κⱼ)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60120" y="2423160"/>
            <a:ext cx="44805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4712" y="2542032"/>
            <a:ext cx="41513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log[κᵢ/(1−κᵢ)] = Xᵢᵀβ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60120" y="3337560"/>
            <a:ext cx="4480560" cy="777240"/>
          </a:xfrm>
          <a:prstGeom prst="roundRect">
            <a:avLst>
              <a:gd name="adj" fmla="val 7059"/>
            </a:avLst>
          </a:prstGeom>
          <a:solidFill>
            <a:srgbClr val="F4EFE5">
              <a:alpha val="90000"/>
            </a:srgbClr>
          </a:solidFill>
          <a:ln w="12700">
            <a:solidFill>
              <a:srgbClr val="F4EFE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4712" y="3474720"/>
            <a:ext cx="4151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33"/>
                </a:solidFill>
              </a:rPr>
              <a:t>β: effects of edge-level covariates on baseline edge probability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583680" y="2423160"/>
            <a:ext cx="44805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2542032"/>
            <a:ext cx="41513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η Σ wᵢⱼ (yⱼ − κⱼ)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583680" y="3337560"/>
            <a:ext cx="4480560" cy="777240"/>
          </a:xfrm>
          <a:prstGeom prst="roundRect">
            <a:avLst>
              <a:gd name="adj" fmla="val 7059"/>
            </a:avLst>
          </a:prstGeom>
          <a:solidFill>
            <a:srgbClr val="BDE8E6">
              <a:alpha val="90000"/>
            </a:srgbClr>
          </a:solidFill>
          <a:ln w="12700">
            <a:solidFill>
              <a:srgbClr val="BDE8E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48272" y="3474720"/>
            <a:ext cx="4151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33"/>
                </a:solidFill>
              </a:rPr>
              <a:t>η: strength and direction of local dependence after centering neighbors at baseline</a:t>
            </a:r>
            <a:endParaRPr lang="en-US" sz="15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LSGM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Interpreting η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Neighboring edges can be complements or substitutes.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3246120" cy="2286000"/>
          </a:xfrm>
          <a:prstGeom prst="roundRect">
            <a:avLst>
              <a:gd name="adj" fmla="val 3200"/>
            </a:avLst>
          </a:prstGeom>
          <a:solidFill>
            <a:srgbClr val="E7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916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8F62"/>
                </a:solidFill>
              </a:rPr>
              <a:t>η &gt; 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Complementarity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7889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80" dirty="0">
                <a:solidFill>
                  <a:srgbClr val="52606D"/>
                </a:solidFill>
              </a:rPr>
              <a:t>Neighboring edges above baseline make edge i more likely.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4572000" y="1417320"/>
            <a:ext cx="3246120" cy="2286000"/>
          </a:xfrm>
          <a:prstGeom prst="roundRect">
            <a:avLst>
              <a:gd name="adj" fmla="val 3200"/>
            </a:avLst>
          </a:prstGeom>
          <a:solidFill>
            <a:srgbClr val="F7E6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6916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64A4A"/>
                </a:solidFill>
              </a:rPr>
              <a:t>η &lt; 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00600" y="2240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Substitution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7889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80" dirty="0">
                <a:solidFill>
                  <a:srgbClr val="52606D"/>
                </a:solidFill>
              </a:rPr>
              <a:t>Neighboring edges above baseline make edge i less likely.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8366760" y="1417320"/>
            <a:ext cx="3246120" cy="2286000"/>
          </a:xfrm>
          <a:prstGeom prst="roundRect">
            <a:avLst>
              <a:gd name="adj" fmla="val 3200"/>
            </a:avLst>
          </a:prstGeom>
          <a:solidFill>
            <a:srgbClr val="F0F2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16916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2606D"/>
                </a:solidFill>
              </a:rPr>
              <a:t>η = 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95360" y="2240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Ordinary logit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0" y="27889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80" dirty="0">
                <a:solidFill>
                  <a:srgbClr val="52606D"/>
                </a:solidFill>
              </a:rPr>
              <a:t>No local dependence after covariates.</a:t>
            </a:r>
            <a:endParaRPr lang="en-US" sz="1380" dirty="0"/>
          </a:p>
        </p:txBody>
      </p:sp>
      <p:sp>
        <p:nvSpPr>
          <p:cNvPr id="20" name="Text 18"/>
          <p:cNvSpPr/>
          <p:nvPr/>
        </p:nvSpPr>
        <p:spPr>
          <a:xfrm>
            <a:off x="1143000" y="4663440"/>
            <a:ext cx="987552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Centering on κⱼ means the dependence term asks whether neighbors are more or less active than their own baseline probabilities.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LSGM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conditions on 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The connectivity matrix is not a generic spatial lag.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603504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W should be symmetric: wᵢⱼ = wⱼᵢ.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Do not row-standardize W. The scale and total connectivity are part of the dependence process.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Zeros mean no local connection; positive continuous values can encode connection strength.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Theoretical defensibility of W is more important than mechanical convenience.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589520" y="150876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0" y="1527048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8046720" y="1508760"/>
            <a:ext cx="457200" cy="457200"/>
          </a:xfrm>
          <a:prstGeom prst="rect">
            <a:avLst/>
          </a:prstGeom>
          <a:solidFill>
            <a:srgbClr val="BDE8E6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1527048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72033"/>
                </a:solidFill>
              </a:rPr>
              <a:t>1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8503920" y="150876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1527048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8961120" y="150876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0" y="1527048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9418320" y="150876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0" y="1527048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7589520" y="1965960"/>
            <a:ext cx="457200" cy="457200"/>
          </a:xfrm>
          <a:prstGeom prst="rect">
            <a:avLst/>
          </a:prstGeom>
          <a:solidFill>
            <a:srgbClr val="BDE8E6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0" y="1984248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72033"/>
                </a:solidFill>
              </a:rPr>
              <a:t>1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8046720" y="196596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0" y="1984248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8503920" y="196596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1984248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8961120" y="1965960"/>
            <a:ext cx="457200" cy="457200"/>
          </a:xfrm>
          <a:prstGeom prst="rect">
            <a:avLst/>
          </a:prstGeom>
          <a:solidFill>
            <a:srgbClr val="BDE8E6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0" y="1984248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72033"/>
                </a:solidFill>
              </a:rPr>
              <a:t>1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9418320" y="196596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0" y="1984248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7589520" y="242316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0" y="2441448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046720" y="242316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0" y="2441448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8503920" y="242316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03920" y="2441448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8961120" y="242316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61120" y="2441448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9418320" y="2423160"/>
            <a:ext cx="457200" cy="457200"/>
          </a:xfrm>
          <a:prstGeom prst="rect">
            <a:avLst/>
          </a:prstGeom>
          <a:solidFill>
            <a:srgbClr val="BDE8E6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18320" y="2441448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72033"/>
                </a:solidFill>
              </a:rPr>
              <a:t>1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7589520" y="288036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89520" y="2898648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8046720" y="2880360"/>
            <a:ext cx="457200" cy="457200"/>
          </a:xfrm>
          <a:prstGeom prst="rect">
            <a:avLst/>
          </a:prstGeom>
          <a:solidFill>
            <a:srgbClr val="BDE8E6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46720" y="2898648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72033"/>
                </a:solidFill>
              </a:rPr>
              <a:t>1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8503920" y="288036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03920" y="2898648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8961120" y="288036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961120" y="2898648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9418320" y="288036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418320" y="2898648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7589520" y="333756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89520" y="3355848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8046720" y="333756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46720" y="3355848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8503920" y="3337560"/>
            <a:ext cx="457200" cy="457200"/>
          </a:xfrm>
          <a:prstGeom prst="rect">
            <a:avLst/>
          </a:prstGeom>
          <a:solidFill>
            <a:srgbClr val="BDE8E6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503920" y="3355848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72033"/>
                </a:solidFill>
              </a:rPr>
              <a:t>1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8961120" y="333756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961120" y="3355848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9418320" y="333756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418320" y="3355848"/>
            <a:ext cx="457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B2BD"/>
                </a:solidFill>
              </a:rPr>
              <a:t>0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754380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9C9C"/>
                </a:solidFill>
              </a:rPr>
              <a:t>symmetric W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6720840" y="4617720"/>
            <a:ext cx="4206240" cy="777240"/>
          </a:xfrm>
          <a:prstGeom prst="roundRect">
            <a:avLst>
              <a:gd name="adj" fmla="val 7059"/>
            </a:avLst>
          </a:prstGeom>
          <a:solidFill>
            <a:srgbClr val="E39C48">
              <a:alpha val="80000"/>
            </a:srgbClr>
          </a:solidFill>
          <a:ln w="12700">
            <a:solidFill>
              <a:srgbClr val="E39C48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85432" y="4754880"/>
            <a:ext cx="3877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Good lecture question: what would W mean in your students’ own network applications?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LSGM estimation uses a pseudo-likelihood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Same log-likelihood form; different pᵢ.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29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234440"/>
            <a:ext cx="104241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353312"/>
            <a:ext cx="10094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log PL = Σᵢ { yᵢ log(pᵢ) + (1−yᵢ) log(1−pᵢ) }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97280" y="242316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61872" y="2542032"/>
            <a:ext cx="95463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pᵢ = exp[Aᵢ(y(Nᵢ))] / [1 + exp[Aᵢ(y(Nᵢ))]]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874520" y="3657600"/>
            <a:ext cx="8412480" cy="822960"/>
          </a:xfrm>
          <a:prstGeom prst="roundRect">
            <a:avLst>
              <a:gd name="adj" fmla="val 6667"/>
            </a:avLst>
          </a:prstGeom>
          <a:solidFill>
            <a:srgbClr val="BDE8E6">
              <a:alpha val="90000"/>
            </a:srgbClr>
          </a:solidFill>
          <a:ln w="12700">
            <a:solidFill>
              <a:srgbClr val="BDE8E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39112" y="3794760"/>
            <a:ext cx="8083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72033"/>
                </a:solidFill>
              </a:rPr>
              <a:t>Why pseudo-likelihood? It avoids the intractable full joint normalizing constant for dependent binary fields.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280160" y="4800600"/>
            <a:ext cx="960120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6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teaching: emphasize that LSGM inherits logit’s Bernoulli likelihood intuition but replaces Xβ with a local natural parameter Aᵢ.</a:t>
            </a:r>
            <a:endParaRPr lang="en-US" sz="168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Programming logit and LSGM side by side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The only new ingredient is the local dependence term.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188720"/>
            <a:ext cx="5074920" cy="2788920"/>
          </a:xfrm>
          <a:prstGeom prst="roundRect">
            <a:avLst>
              <a:gd name="adj" fmla="val 1639"/>
            </a:avLst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353312"/>
            <a:ext cx="4754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Logit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xbeta &lt;- X %*% beta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kappa &lt;- exp(xbeta)/(1+exp(xbeta))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 &lt;- Y*log(kappa) + (1-Y)*log(1-kappa)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-sum(ll)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188720"/>
            <a:ext cx="5303520" cy="3611880"/>
          </a:xfrm>
          <a:prstGeom prst="roundRect">
            <a:avLst>
              <a:gd name="adj" fmla="val 1266"/>
            </a:avLst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353312"/>
            <a:ext cx="49834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LSGM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xbeta &lt;- X %*% beta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kappa &lt;- exp(xbeta)/(1+exp(xbeta))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A_i &lt;- log(kappa/(1-kappa)) +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eta * W %*% (Y - kappa)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p_i &lt;- exp(A_i)/(1+exp(A_i))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 &lt;- Y*log(p_i) + (1-Y)*log(1-p_i)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-sum(PL)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1325880" y="5166360"/>
            <a:ext cx="9418320" cy="548640"/>
          </a:xfrm>
          <a:prstGeom prst="roundRect">
            <a:avLst>
              <a:gd name="adj" fmla="val 10000"/>
            </a:avLst>
          </a:prstGeom>
          <a:solidFill>
            <a:srgbClr val="E39C48">
              <a:alpha val="80000"/>
            </a:srgbClr>
          </a:solidFill>
          <a:ln w="12700">
            <a:solidFill>
              <a:srgbClr val="E39C4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90472" y="5303520"/>
            <a:ext cx="9089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72033"/>
                </a:solidFill>
              </a:rPr>
              <a:t>Pedagogical bridge: students already understand every piece except W %*% (Y − κ).</a:t>
            </a:r>
            <a:endParaRPr lang="en-US" sz="16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Estimate with optim()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Start values include both β and η.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188720"/>
            <a:ext cx="5760720" cy="4480560"/>
          </a:xfrm>
          <a:prstGeom prst="roundRect">
            <a:avLst>
              <a:gd name="adj" fmla="val 1020"/>
            </a:avLst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353312"/>
            <a:ext cx="5440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loglik_lsgm &lt;- function(par, Y, X, W) {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beta  &lt;- par[1:ncol(X)]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eta   &lt;- par[ncol(X)+1]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kappa &lt;- plogis(X %*% beta)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A_i   &lt;- qlogis(kappa) + eta * W %*% (Y-kappa)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p_i   &lt;- plogis(A_i)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-sum(Y*log(p_i) + (1-Y)*log(1-p_i))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60" dirty="0"/>
          </a:p>
          <a:p>
            <a:pPr indent="0" marL="0">
              <a:buNone/>
            </a:pP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 &lt;- optim(par = c(rep(0, ncol(X)), 0),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loglik_lsgm, Y=Y, X=X, W=W,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method="BFGS")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fit$par</a:t>
            </a:r>
            <a:endParaRPr lang="en-US" sz="1160" dirty="0"/>
          </a:p>
        </p:txBody>
      </p:sp>
      <p:sp>
        <p:nvSpPr>
          <p:cNvPr id="10" name="Shape 8"/>
          <p:cNvSpPr/>
          <p:nvPr/>
        </p:nvSpPr>
        <p:spPr>
          <a:xfrm>
            <a:off x="7040880" y="1417320"/>
            <a:ext cx="4023360" cy="868680"/>
          </a:xfrm>
          <a:prstGeom prst="roundRect">
            <a:avLst>
              <a:gd name="adj" fmla="val 6316"/>
            </a:avLst>
          </a:prstGeom>
          <a:solidFill>
            <a:srgbClr val="BDE8E6">
              <a:alpha val="90000"/>
            </a:srgbClr>
          </a:solidFill>
          <a:ln w="12700">
            <a:solidFill>
              <a:srgbClr val="BDE8E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05472" y="1554480"/>
            <a:ext cx="3694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72033"/>
                </a:solidFill>
              </a:rPr>
              <a:t>Use plogis() and qlogis() for numerical stability and readability.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995160" y="2743200"/>
            <a:ext cx="416052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β parameters: covariate effects on baseline log-odds.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η parameter: dependence among connected potential edges.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Convergence requires checking, just like any nonlinear model.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Standard errors by simulation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The LSGM deck uses a simulation-based uncertainty workflow.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59536" y="1591056"/>
            <a:ext cx="384048" cy="384048"/>
          </a:xfrm>
          <a:prstGeom prst="ellipse">
            <a:avLst/>
          </a:prstGeom>
          <a:solidFill>
            <a:srgbClr val="2C5D8A"/>
          </a:solidFill>
          <a:ln w="12700">
            <a:solidFill>
              <a:srgbClr val="2C5D8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68249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2402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Estimate the model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6974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52606D"/>
                </a:solidFill>
              </a:rPr>
              <a:t>Get β̂ and η̂.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971800" y="1591056"/>
            <a:ext cx="320040" cy="384048"/>
          </a:xfrm>
          <a:prstGeom prst="chevron">
            <a:avLst/>
          </a:prstGeom>
          <a:solidFill>
            <a:srgbClr val="52606D">
              <a:alpha val="75000"/>
            </a:srgbClr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48456" y="1591056"/>
            <a:ext cx="384048" cy="384048"/>
          </a:xfrm>
          <a:prstGeom prst="ellipse">
            <a:avLst/>
          </a:prstGeom>
          <a:solidFill>
            <a:srgbClr val="2C5D8A"/>
          </a:solidFill>
          <a:ln w="12700">
            <a:solidFill>
              <a:srgbClr val="2C5D8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21608" y="168249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11880" y="22402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Simulate networks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11880" y="26974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52606D"/>
                </a:solidFill>
              </a:rPr>
              <a:t>Use Gibbs updates under fitted parameters.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760720" y="1591056"/>
            <a:ext cx="320040" cy="384048"/>
          </a:xfrm>
          <a:prstGeom prst="chevron">
            <a:avLst/>
          </a:prstGeom>
          <a:solidFill>
            <a:srgbClr val="52606D">
              <a:alpha val="75000"/>
            </a:srgbClr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37376" y="1591056"/>
            <a:ext cx="384048" cy="384048"/>
          </a:xfrm>
          <a:prstGeom prst="ellipse">
            <a:avLst/>
          </a:prstGeom>
          <a:solidFill>
            <a:srgbClr val="2B9C9C"/>
          </a:solidFill>
          <a:ln w="12700">
            <a:solidFill>
              <a:srgbClr val="2B9C9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0528" y="168249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22402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Re-estimate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26974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52606D"/>
                </a:solidFill>
              </a:rPr>
              <a:t>Fit LSGM to each simulated network.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549640" y="1591056"/>
            <a:ext cx="320040" cy="384048"/>
          </a:xfrm>
          <a:prstGeom prst="chevron">
            <a:avLst/>
          </a:prstGeom>
          <a:solidFill>
            <a:srgbClr val="52606D">
              <a:alpha val="75000"/>
            </a:srgbClr>
          </a:solidFill>
          <a:ln w="12700">
            <a:solidFill>
              <a:srgbClr val="52606D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26296" y="1591056"/>
            <a:ext cx="384048" cy="384048"/>
          </a:xfrm>
          <a:prstGeom prst="ellipse">
            <a:avLst/>
          </a:prstGeom>
          <a:solidFill>
            <a:srgbClr val="2B9C9C"/>
          </a:solidFill>
          <a:ln w="12700">
            <a:solidFill>
              <a:srgbClr val="2B9C9C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99448" y="168249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89720" y="22402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Summarize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89720" y="26974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52606D"/>
                </a:solidFill>
              </a:rPr>
              <a:t>SE = SD of simulated estimates.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1828800" y="4160520"/>
            <a:ext cx="8412480" cy="777240"/>
          </a:xfrm>
          <a:prstGeom prst="roundRect">
            <a:avLst>
              <a:gd name="adj" fmla="val 7059"/>
            </a:avLst>
          </a:prstGeom>
          <a:solidFill>
            <a:srgbClr val="E39C48">
              <a:alpha val="80000"/>
            </a:srgbClr>
          </a:solidFill>
          <a:ln w="12700">
            <a:solidFill>
              <a:srgbClr val="E39C4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93392" y="4297680"/>
            <a:ext cx="8083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72033"/>
                </a:solidFill>
              </a:rPr>
              <a:t>Gibbs idea: update one edge at a time conditional on the current values of its neighbors.</a:t>
            </a:r>
            <a:endParaRPr lang="en-US" sz="16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Gibbs update intuition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A full iteration updates every potential edge once.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43000" y="2045970"/>
            <a:ext cx="560070" cy="1440180"/>
          </a:xfrm>
          <a:prstGeom prst="line">
            <a:avLst/>
          </a:prstGeom>
          <a:noFill/>
          <a:ln w="30480">
            <a:solidFill>
              <a:srgbClr val="2B9C9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83180" y="1517904"/>
            <a:ext cx="880110" cy="1968246"/>
          </a:xfrm>
          <a:prstGeom prst="line">
            <a:avLst/>
          </a:prstGeom>
          <a:noFill/>
          <a:ln w="30480">
            <a:solidFill>
              <a:srgbClr val="2B9C9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2045970"/>
            <a:ext cx="-2320290" cy="1440180"/>
          </a:xfrm>
          <a:prstGeom prst="line">
            <a:avLst/>
          </a:prstGeom>
          <a:noFill/>
          <a:ln w="15240">
            <a:solidFill>
              <a:srgbClr val="52606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2045970"/>
            <a:ext cx="1440180" cy="-528066"/>
          </a:xfrm>
          <a:prstGeom prst="line">
            <a:avLst/>
          </a:prstGeom>
          <a:noFill/>
          <a:ln w="15240">
            <a:solidFill>
              <a:srgbClr val="E6E8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03070" y="3486150"/>
            <a:ext cx="1760220" cy="0"/>
          </a:xfrm>
          <a:prstGeom prst="line">
            <a:avLst/>
          </a:prstGeom>
          <a:noFill/>
          <a:ln w="15240">
            <a:solidFill>
              <a:srgbClr val="E6E8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8977" y="1861947"/>
            <a:ext cx="368046" cy="368046"/>
          </a:xfrm>
          <a:prstGeom prst="ellipse">
            <a:avLst/>
          </a:prstGeom>
          <a:solidFill>
            <a:srgbClr val="2C5D8A"/>
          </a:solidFill>
          <a:ln w="12700">
            <a:solidFill>
              <a:srgbClr val="2C5D8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4984" y="1925955"/>
            <a:ext cx="25603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5" b="1" dirty="0">
                <a:solidFill>
                  <a:srgbClr val="FFFFFF"/>
                </a:solidFill>
              </a:rPr>
              <a:t>A</a:t>
            </a:r>
            <a:endParaRPr lang="en-US" sz="1225" dirty="0"/>
          </a:p>
        </p:txBody>
      </p:sp>
      <p:sp>
        <p:nvSpPr>
          <p:cNvPr id="15" name="Shape 13"/>
          <p:cNvSpPr/>
          <p:nvPr/>
        </p:nvSpPr>
        <p:spPr>
          <a:xfrm>
            <a:off x="2399157" y="1333881"/>
            <a:ext cx="368046" cy="368046"/>
          </a:xfrm>
          <a:prstGeom prst="ellipse">
            <a:avLst/>
          </a:prstGeom>
          <a:solidFill>
            <a:srgbClr val="2C5D8A"/>
          </a:solidFill>
          <a:ln w="12700">
            <a:solidFill>
              <a:srgbClr val="2C5D8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55164" y="1397889"/>
            <a:ext cx="25603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5" b="1" dirty="0">
                <a:solidFill>
                  <a:srgbClr val="FFFFFF"/>
                </a:solidFill>
              </a:rPr>
              <a:t>B</a:t>
            </a:r>
            <a:endParaRPr lang="en-US" sz="1225" dirty="0"/>
          </a:p>
        </p:txBody>
      </p:sp>
      <p:sp>
        <p:nvSpPr>
          <p:cNvPr id="17" name="Shape 15"/>
          <p:cNvSpPr/>
          <p:nvPr/>
        </p:nvSpPr>
        <p:spPr>
          <a:xfrm>
            <a:off x="3839337" y="1861947"/>
            <a:ext cx="368046" cy="368046"/>
          </a:xfrm>
          <a:prstGeom prst="ellipse">
            <a:avLst/>
          </a:prstGeom>
          <a:solidFill>
            <a:srgbClr val="2C5D8A"/>
          </a:solidFill>
          <a:ln w="12700">
            <a:solidFill>
              <a:srgbClr val="2C5D8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95344" y="1925955"/>
            <a:ext cx="25603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5" b="1" dirty="0">
                <a:solidFill>
                  <a:srgbClr val="FFFFFF"/>
                </a:solidFill>
              </a:rPr>
              <a:t>C</a:t>
            </a:r>
            <a:endParaRPr lang="en-US" sz="1225" dirty="0"/>
          </a:p>
        </p:txBody>
      </p:sp>
      <p:sp>
        <p:nvSpPr>
          <p:cNvPr id="19" name="Shape 17"/>
          <p:cNvSpPr/>
          <p:nvPr/>
        </p:nvSpPr>
        <p:spPr>
          <a:xfrm>
            <a:off x="1519047" y="3302127"/>
            <a:ext cx="368046" cy="368046"/>
          </a:xfrm>
          <a:prstGeom prst="ellipse">
            <a:avLst/>
          </a:prstGeom>
          <a:solidFill>
            <a:srgbClr val="E39C48"/>
          </a:solidFill>
          <a:ln w="12700">
            <a:solidFill>
              <a:srgbClr val="E39C4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75054" y="3366135"/>
            <a:ext cx="25603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5" b="1" dirty="0">
                <a:solidFill>
                  <a:srgbClr val="FFFFFF"/>
                </a:solidFill>
              </a:rPr>
              <a:t>D</a:t>
            </a:r>
            <a:endParaRPr lang="en-US" sz="1225" dirty="0"/>
          </a:p>
        </p:txBody>
      </p:sp>
      <p:sp>
        <p:nvSpPr>
          <p:cNvPr id="21" name="Shape 19"/>
          <p:cNvSpPr/>
          <p:nvPr/>
        </p:nvSpPr>
        <p:spPr>
          <a:xfrm>
            <a:off x="3279267" y="3302127"/>
            <a:ext cx="368046" cy="368046"/>
          </a:xfrm>
          <a:prstGeom prst="ellipse">
            <a:avLst/>
          </a:prstGeom>
          <a:solidFill>
            <a:srgbClr val="E39C48"/>
          </a:solidFill>
          <a:ln w="12700">
            <a:solidFill>
              <a:srgbClr val="E39C4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5274" y="3366135"/>
            <a:ext cx="25603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5" b="1" dirty="0">
                <a:solidFill>
                  <a:srgbClr val="FFFFFF"/>
                </a:solidFill>
              </a:rPr>
              <a:t>E</a:t>
            </a:r>
            <a:endParaRPr lang="en-US" sz="1225" dirty="0"/>
          </a:p>
        </p:txBody>
      </p:sp>
      <p:sp>
        <p:nvSpPr>
          <p:cNvPr id="23" name="Shape 21"/>
          <p:cNvSpPr/>
          <p:nvPr/>
        </p:nvSpPr>
        <p:spPr>
          <a:xfrm>
            <a:off x="4617720" y="2468880"/>
            <a:ext cx="1097280" cy="0"/>
          </a:xfrm>
          <a:prstGeom prst="line">
            <a:avLst/>
          </a:prstGeom>
          <a:noFill/>
          <a:ln w="19050">
            <a:solidFill>
              <a:srgbClr val="52606D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446520" y="2045970"/>
            <a:ext cx="560070" cy="1440180"/>
          </a:xfrm>
          <a:prstGeom prst="line">
            <a:avLst/>
          </a:prstGeom>
          <a:noFill/>
          <a:ln w="30480">
            <a:solidFill>
              <a:srgbClr val="2B9C9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86700" y="1517904"/>
            <a:ext cx="880110" cy="1968246"/>
          </a:xfrm>
          <a:prstGeom prst="line">
            <a:avLst/>
          </a:prstGeom>
          <a:noFill/>
          <a:ln w="30480">
            <a:solidFill>
              <a:srgbClr val="2B9C9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26880" y="2045970"/>
            <a:ext cx="-2320290" cy="1440180"/>
          </a:xfrm>
          <a:prstGeom prst="line">
            <a:avLst/>
          </a:prstGeom>
          <a:noFill/>
          <a:ln w="15240">
            <a:solidFill>
              <a:srgbClr val="52606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46520" y="2045970"/>
            <a:ext cx="1440180" cy="-528066"/>
          </a:xfrm>
          <a:prstGeom prst="line">
            <a:avLst/>
          </a:prstGeom>
          <a:noFill/>
          <a:ln w="15240">
            <a:solidFill>
              <a:srgbClr val="E6E8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06590" y="3486150"/>
            <a:ext cx="1760220" cy="0"/>
          </a:xfrm>
          <a:prstGeom prst="line">
            <a:avLst/>
          </a:prstGeom>
          <a:noFill/>
          <a:ln w="15240">
            <a:solidFill>
              <a:srgbClr val="E6E8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2497" y="1861947"/>
            <a:ext cx="368046" cy="368046"/>
          </a:xfrm>
          <a:prstGeom prst="ellipse">
            <a:avLst/>
          </a:prstGeom>
          <a:solidFill>
            <a:srgbClr val="2C5D8A"/>
          </a:solidFill>
          <a:ln w="12700">
            <a:solidFill>
              <a:srgbClr val="2C5D8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18504" y="1925955"/>
            <a:ext cx="25603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5" b="1" dirty="0">
                <a:solidFill>
                  <a:srgbClr val="FFFFFF"/>
                </a:solidFill>
              </a:rPr>
              <a:t>A</a:t>
            </a:r>
            <a:endParaRPr lang="en-US" sz="1225" dirty="0"/>
          </a:p>
        </p:txBody>
      </p:sp>
      <p:sp>
        <p:nvSpPr>
          <p:cNvPr id="31" name="Shape 29"/>
          <p:cNvSpPr/>
          <p:nvPr/>
        </p:nvSpPr>
        <p:spPr>
          <a:xfrm>
            <a:off x="7702677" y="1333881"/>
            <a:ext cx="368046" cy="368046"/>
          </a:xfrm>
          <a:prstGeom prst="ellipse">
            <a:avLst/>
          </a:prstGeom>
          <a:solidFill>
            <a:srgbClr val="2C5D8A"/>
          </a:solidFill>
          <a:ln w="12700">
            <a:solidFill>
              <a:srgbClr val="2C5D8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58684" y="1397889"/>
            <a:ext cx="25603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5" b="1" dirty="0">
                <a:solidFill>
                  <a:srgbClr val="FFFFFF"/>
                </a:solidFill>
              </a:rPr>
              <a:t>B</a:t>
            </a:r>
            <a:endParaRPr lang="en-US" sz="1225" dirty="0"/>
          </a:p>
        </p:txBody>
      </p:sp>
      <p:sp>
        <p:nvSpPr>
          <p:cNvPr id="33" name="Shape 31"/>
          <p:cNvSpPr/>
          <p:nvPr/>
        </p:nvSpPr>
        <p:spPr>
          <a:xfrm>
            <a:off x="9142857" y="1861947"/>
            <a:ext cx="368046" cy="368046"/>
          </a:xfrm>
          <a:prstGeom prst="ellipse">
            <a:avLst/>
          </a:prstGeom>
          <a:solidFill>
            <a:srgbClr val="2C5D8A"/>
          </a:solidFill>
          <a:ln w="12700">
            <a:solidFill>
              <a:srgbClr val="2C5D8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98864" y="1925955"/>
            <a:ext cx="25603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5" b="1" dirty="0">
                <a:solidFill>
                  <a:srgbClr val="FFFFFF"/>
                </a:solidFill>
              </a:rPr>
              <a:t>C</a:t>
            </a:r>
            <a:endParaRPr lang="en-US" sz="1225" dirty="0"/>
          </a:p>
        </p:txBody>
      </p:sp>
      <p:sp>
        <p:nvSpPr>
          <p:cNvPr id="35" name="Shape 33"/>
          <p:cNvSpPr/>
          <p:nvPr/>
        </p:nvSpPr>
        <p:spPr>
          <a:xfrm>
            <a:off x="6822567" y="3302127"/>
            <a:ext cx="368046" cy="368046"/>
          </a:xfrm>
          <a:prstGeom prst="ellipse">
            <a:avLst/>
          </a:prstGeom>
          <a:solidFill>
            <a:srgbClr val="E39C48"/>
          </a:solidFill>
          <a:ln w="12700">
            <a:solidFill>
              <a:srgbClr val="E39C48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78574" y="3366135"/>
            <a:ext cx="25603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5" b="1" dirty="0">
                <a:solidFill>
                  <a:srgbClr val="FFFFFF"/>
                </a:solidFill>
              </a:rPr>
              <a:t>D</a:t>
            </a:r>
            <a:endParaRPr lang="en-US" sz="1225" dirty="0"/>
          </a:p>
        </p:txBody>
      </p:sp>
      <p:sp>
        <p:nvSpPr>
          <p:cNvPr id="37" name="Shape 35"/>
          <p:cNvSpPr/>
          <p:nvPr/>
        </p:nvSpPr>
        <p:spPr>
          <a:xfrm>
            <a:off x="8582787" y="3302127"/>
            <a:ext cx="368046" cy="368046"/>
          </a:xfrm>
          <a:prstGeom prst="ellipse">
            <a:avLst/>
          </a:prstGeom>
          <a:solidFill>
            <a:srgbClr val="E39C48"/>
          </a:solidFill>
          <a:ln w="12700">
            <a:solidFill>
              <a:srgbClr val="E39C48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38794" y="3366135"/>
            <a:ext cx="25603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5" b="1" dirty="0">
                <a:solidFill>
                  <a:srgbClr val="FFFFFF"/>
                </a:solidFill>
              </a:rPr>
              <a:t>E</a:t>
            </a:r>
            <a:endParaRPr lang="en-US" sz="1225" dirty="0"/>
          </a:p>
        </p:txBody>
      </p:sp>
      <p:sp>
        <p:nvSpPr>
          <p:cNvPr id="39" name="Shape 37"/>
          <p:cNvSpPr/>
          <p:nvPr/>
        </p:nvSpPr>
        <p:spPr>
          <a:xfrm>
            <a:off x="1234440" y="4572000"/>
            <a:ext cx="9829800" cy="777240"/>
          </a:xfrm>
          <a:prstGeom prst="roundRect">
            <a:avLst>
              <a:gd name="adj" fmla="val 7059"/>
            </a:avLst>
          </a:prstGeom>
          <a:solidFill>
            <a:srgbClr val="BDE8E6">
              <a:alpha val="90000"/>
            </a:srgbClr>
          </a:solidFill>
          <a:ln w="12700">
            <a:solidFill>
              <a:srgbClr val="BDE8E6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99032" y="4709160"/>
            <a:ext cx="9500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72033"/>
                </a:solidFill>
              </a:rPr>
              <a:t>At step i: compute pᵢ from current neighbor values, draw Yᵢ ~ Bernoulli(pᵢ), replace the old Yᵢ, then move to i+1.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1371600" y="39319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current network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675120" y="39319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updated network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Application: international alliances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Potential alliance ties are binary outcomes with local strategic structure.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" y="1234440"/>
            <a:ext cx="576072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Dependent variable: defense/alliance tie between a pair of states.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Exogenous edge covariates: trade, military ratio, distance, regime similarity, etc.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W encodes which potential ties are theoretically connected.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η tests whether connected alliance decisions are complementary or substitutive.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452360" y="1872234"/>
            <a:ext cx="496062" cy="1275588"/>
          </a:xfrm>
          <a:prstGeom prst="line">
            <a:avLst/>
          </a:prstGeom>
          <a:noFill/>
          <a:ln w="30480">
            <a:solidFill>
              <a:srgbClr val="2B9C9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27948" y="1404518"/>
            <a:ext cx="779526" cy="1743304"/>
          </a:xfrm>
          <a:prstGeom prst="line">
            <a:avLst/>
          </a:prstGeom>
          <a:noFill/>
          <a:ln w="30480">
            <a:solidFill>
              <a:srgbClr val="2B9C9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03536" y="1872234"/>
            <a:ext cx="-2055114" cy="1275588"/>
          </a:xfrm>
          <a:prstGeom prst="line">
            <a:avLst/>
          </a:prstGeom>
          <a:noFill/>
          <a:ln w="15240">
            <a:solidFill>
              <a:srgbClr val="5260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52360" y="1872234"/>
            <a:ext cx="1275588" cy="-467716"/>
          </a:xfrm>
          <a:prstGeom prst="line">
            <a:avLst/>
          </a:prstGeom>
          <a:noFill/>
          <a:ln w="15240">
            <a:solidFill>
              <a:srgbClr val="E6E8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48422" y="3147822"/>
            <a:ext cx="1559052" cy="0"/>
          </a:xfrm>
          <a:prstGeom prst="line">
            <a:avLst/>
          </a:prstGeom>
          <a:noFill/>
          <a:ln w="15240">
            <a:solidFill>
              <a:srgbClr val="E6E8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89368" y="1709242"/>
            <a:ext cx="325984" cy="325984"/>
          </a:xfrm>
          <a:prstGeom prst="ellipse">
            <a:avLst/>
          </a:prstGeom>
          <a:solidFill>
            <a:srgbClr val="2C5D8A"/>
          </a:solidFill>
          <a:ln w="12700">
            <a:solidFill>
              <a:srgbClr val="2C5D8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38974" y="1765935"/>
            <a:ext cx="226771" cy="212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5" b="1" dirty="0">
                <a:solidFill>
                  <a:srgbClr val="FFFFFF"/>
                </a:solidFill>
              </a:rPr>
              <a:t>A</a:t>
            </a:r>
            <a:endParaRPr lang="en-US" sz="1085" dirty="0"/>
          </a:p>
        </p:txBody>
      </p:sp>
      <p:sp>
        <p:nvSpPr>
          <p:cNvPr id="16" name="Shape 14"/>
          <p:cNvSpPr/>
          <p:nvPr/>
        </p:nvSpPr>
        <p:spPr>
          <a:xfrm>
            <a:off x="8564956" y="1241527"/>
            <a:ext cx="325984" cy="325984"/>
          </a:xfrm>
          <a:prstGeom prst="ellipse">
            <a:avLst/>
          </a:prstGeom>
          <a:solidFill>
            <a:srgbClr val="2C5D8A"/>
          </a:solidFill>
          <a:ln w="12700">
            <a:solidFill>
              <a:srgbClr val="2C5D8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14562" y="1298219"/>
            <a:ext cx="226771" cy="212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5" b="1" dirty="0">
                <a:solidFill>
                  <a:srgbClr val="FFFFFF"/>
                </a:solidFill>
              </a:rPr>
              <a:t>B</a:t>
            </a:r>
            <a:endParaRPr lang="en-US" sz="1085" dirty="0"/>
          </a:p>
        </p:txBody>
      </p:sp>
      <p:sp>
        <p:nvSpPr>
          <p:cNvPr id="18" name="Shape 16"/>
          <p:cNvSpPr/>
          <p:nvPr/>
        </p:nvSpPr>
        <p:spPr>
          <a:xfrm>
            <a:off x="9840544" y="1709242"/>
            <a:ext cx="325984" cy="325984"/>
          </a:xfrm>
          <a:prstGeom prst="ellipse">
            <a:avLst/>
          </a:prstGeom>
          <a:solidFill>
            <a:srgbClr val="2C5D8A"/>
          </a:solidFill>
          <a:ln w="12700">
            <a:solidFill>
              <a:srgbClr val="2C5D8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90150" y="1765935"/>
            <a:ext cx="226771" cy="212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5" b="1" dirty="0">
                <a:solidFill>
                  <a:srgbClr val="FFFFFF"/>
                </a:solidFill>
              </a:rPr>
              <a:t>C</a:t>
            </a:r>
            <a:endParaRPr lang="en-US" sz="1085" dirty="0"/>
          </a:p>
        </p:txBody>
      </p:sp>
      <p:sp>
        <p:nvSpPr>
          <p:cNvPr id="20" name="Shape 18"/>
          <p:cNvSpPr/>
          <p:nvPr/>
        </p:nvSpPr>
        <p:spPr>
          <a:xfrm>
            <a:off x="7785430" y="2984830"/>
            <a:ext cx="325984" cy="325984"/>
          </a:xfrm>
          <a:prstGeom prst="ellipse">
            <a:avLst/>
          </a:prstGeom>
          <a:solidFill>
            <a:srgbClr val="E39C48"/>
          </a:solidFill>
          <a:ln w="12700">
            <a:solidFill>
              <a:srgbClr val="E39C4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35036" y="3041523"/>
            <a:ext cx="226771" cy="212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5" b="1" dirty="0">
                <a:solidFill>
                  <a:srgbClr val="FFFFFF"/>
                </a:solidFill>
              </a:rPr>
              <a:t>D</a:t>
            </a:r>
            <a:endParaRPr lang="en-US" sz="1085" dirty="0"/>
          </a:p>
        </p:txBody>
      </p:sp>
      <p:sp>
        <p:nvSpPr>
          <p:cNvPr id="22" name="Shape 20"/>
          <p:cNvSpPr/>
          <p:nvPr/>
        </p:nvSpPr>
        <p:spPr>
          <a:xfrm>
            <a:off x="9344482" y="2984830"/>
            <a:ext cx="325984" cy="325984"/>
          </a:xfrm>
          <a:prstGeom prst="ellipse">
            <a:avLst/>
          </a:prstGeom>
          <a:solidFill>
            <a:srgbClr val="E39C48"/>
          </a:solidFill>
          <a:ln w="12700">
            <a:solidFill>
              <a:srgbClr val="E39C4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94088" y="3041523"/>
            <a:ext cx="226771" cy="212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5" b="1" dirty="0">
                <a:solidFill>
                  <a:srgbClr val="FFFFFF"/>
                </a:solidFill>
              </a:rPr>
              <a:t>E</a:t>
            </a:r>
            <a:endParaRPr lang="en-US" sz="1085" dirty="0"/>
          </a:p>
        </p:txBody>
      </p:sp>
      <p:sp>
        <p:nvSpPr>
          <p:cNvPr id="24" name="Shape 22"/>
          <p:cNvSpPr/>
          <p:nvPr/>
        </p:nvSpPr>
        <p:spPr>
          <a:xfrm>
            <a:off x="6629400" y="434340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E39C48">
              <a:alpha val="80000"/>
            </a:srgbClr>
          </a:solidFill>
          <a:ln w="12700">
            <a:solidFill>
              <a:srgbClr val="E39C4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93992" y="4480560"/>
            <a:ext cx="3877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Substantive question: does the formation of one alliance shift the probability of other related alliance ties?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options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Use hand-coded likelihoods for teaching; use packages for applied workflows.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325880"/>
            <a:ext cx="5029200" cy="3200400"/>
          </a:xfrm>
          <a:prstGeom prst="roundRect">
            <a:avLst>
              <a:gd name="adj" fmla="val 1429"/>
            </a:avLst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490472"/>
            <a:ext cx="4709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beta/testing package example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devtools::install_github("ochyzh/lsgm")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library(lsgm)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 &lt;- lsgm(Y = defense,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X = cbind(tot_trade, mil_ratio),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 = W)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summary(fit)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46520" y="1508760"/>
            <a:ext cx="4434840" cy="868680"/>
          </a:xfrm>
          <a:prstGeom prst="roundRect">
            <a:avLst>
              <a:gd name="adj" fmla="val 6316"/>
            </a:avLst>
          </a:prstGeom>
          <a:solidFill>
            <a:srgbClr val="BDE8E6">
              <a:alpha val="90000"/>
            </a:srgbClr>
          </a:solidFill>
          <a:ln w="12700">
            <a:solidFill>
              <a:srgbClr val="BDE8E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11112" y="1645920"/>
            <a:ext cx="4105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72033"/>
                </a:solidFill>
              </a:rPr>
              <a:t>For lecture: show the hand-coded likelihood first so students understand what the package is estimating.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446520" y="2834640"/>
            <a:ext cx="434340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Use simulations for uncertainty.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Check convergence and sensitivity to W.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Report predicted probabilities and dependence interpretation, not only η.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model family, three layers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The lecture should feel like a sequence rather than two separate topics.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05840" y="1508760"/>
            <a:ext cx="2971800" cy="2057400"/>
          </a:xfrm>
          <a:prstGeom prst="roundRect">
            <a:avLst>
              <a:gd name="adj" fmla="val 3556"/>
            </a:avLst>
          </a:prstGeom>
          <a:solidFill>
            <a:srgbClr val="F4EF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178308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Binary outcome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3591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Yᵢ ∈ {0,1}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234440" y="295351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2606D"/>
                </a:solidFill>
              </a:rPr>
              <a:t>model probabilities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069080" y="2240280"/>
            <a:ext cx="347472" cy="384048"/>
          </a:xfrm>
          <a:prstGeom prst="chevron">
            <a:avLst/>
          </a:prstGeom>
          <a:solidFill>
            <a:srgbClr val="172033">
              <a:alpha val="85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508760"/>
            <a:ext cx="2971800" cy="2057400"/>
          </a:xfrm>
          <a:prstGeom prst="roundRect">
            <a:avLst>
              <a:gd name="adj" fmla="val 3556"/>
            </a:avLst>
          </a:prstGeom>
          <a:solidFill>
            <a:srgbClr val="BDE8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78308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Logit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83480" y="23591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pᵢ = logit⁻¹(Xᵢβ)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983480" y="295351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2606D"/>
                </a:solidFill>
              </a:rPr>
              <a:t>estimate by ML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818120" y="2240280"/>
            <a:ext cx="347472" cy="384048"/>
          </a:xfrm>
          <a:prstGeom prst="chevron">
            <a:avLst/>
          </a:prstGeom>
          <a:solidFill>
            <a:srgbClr val="172033">
              <a:alpha val="85000"/>
            </a:srgbClr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03920" y="1508760"/>
            <a:ext cx="2971800" cy="2057400"/>
          </a:xfrm>
          <a:prstGeom prst="roundRect">
            <a:avLst>
              <a:gd name="adj" fmla="val 3556"/>
            </a:avLst>
          </a:prstGeom>
          <a:solidFill>
            <a:srgbClr val="E9EC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32520" y="178308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LSGM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732520" y="23591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pᵢ = logit⁻¹(Aᵢ)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732520" y="295351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2606D"/>
                </a:solidFill>
              </a:rPr>
              <a:t>add local dependence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508760" y="4709160"/>
            <a:ext cx="9144000" cy="731520"/>
          </a:xfrm>
          <a:prstGeom prst="roundRect">
            <a:avLst>
              <a:gd name="adj" fmla="val 7500"/>
            </a:avLst>
          </a:prstGeom>
          <a:solidFill>
            <a:srgbClr val="E39C48">
              <a:alpha val="80000"/>
            </a:srgbClr>
          </a:solidFill>
          <a:ln w="12700">
            <a:solidFill>
              <a:srgbClr val="E39C4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73352" y="4846320"/>
            <a:ext cx="8814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The bridge sentence: LSGM is logistic regression for edge indicators when edge probabilities depend on local edge structure.</a:t>
            </a:r>
            <a:endParaRPr lang="en-US" sz="1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Suggested lecture timing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Cut probit; spend the saved time on interpretation and the LSGM bridge.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37</a:t>
            </a:r>
            <a:endParaRPr lang="en-US" sz="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0120" y="1234440"/>
          <a:ext cx="10195560" cy="2926080"/>
        </p:xfrm>
        <a:graphic>
          <a:graphicData uri="http://schemas.openxmlformats.org/drawingml/2006/table">
            <a:tbl>
              <a:tblPr/>
              <a:tblGrid>
                <a:gridCol w="3398520"/>
                <a:gridCol w="3398520"/>
                <a:gridCol w="3398520"/>
              </a:tblGrid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172033"/>
                          </a:solidFill>
                        </a:rPr>
                        <a:t>Segment</a:t>
                      </a:r>
                      <a:endParaRPr lang="en-US" sz="1280" dirty="0"/>
                    </a:p>
                  </a:txBody>
                  <a:tcPr marL="73152" marR="73152" marT="73152" marB="73152">
                    <a:lnL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172033"/>
                          </a:solidFill>
                        </a:rPr>
                        <a:t>Minutes</a:t>
                      </a:r>
                      <a:endParaRPr lang="en-US" sz="1280" dirty="0"/>
                    </a:p>
                  </a:txBody>
                  <a:tcPr marL="73152" marR="73152" marT="73152" marB="73152">
                    <a:lnL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b="1" dirty="0">
                          <a:solidFill>
                            <a:srgbClr val="172033"/>
                          </a:solidFill>
                        </a:rPr>
                        <a:t>Purpose</a:t>
                      </a:r>
                      <a:endParaRPr lang="en-US" sz="1280" dirty="0"/>
                    </a:p>
                  </a:txBody>
                  <a:tcPr marL="73152" marR="73152" marT="73152" marB="73152">
                    <a:lnL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72033"/>
                          </a:solidFill>
                        </a:rPr>
                        <a:t>Binary outcomes + logit</a:t>
                      </a:r>
                      <a:endParaRPr lang="en-US" sz="1280" dirty="0"/>
                    </a:p>
                  </a:txBody>
                  <a:tcPr marL="73152" marR="73152" marT="73152" marB="73152">
                    <a:lnL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72033"/>
                          </a:solidFill>
                        </a:rPr>
                        <a:t>20</a:t>
                      </a:r>
                      <a:endParaRPr lang="en-US" sz="1280" dirty="0"/>
                    </a:p>
                  </a:txBody>
                  <a:tcPr marL="73152" marR="73152" marT="73152" marB="73152">
                    <a:lnL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72033"/>
                          </a:solidFill>
                        </a:rPr>
                        <a:t>Why probabilities require a nonlinear link</a:t>
                      </a:r>
                      <a:endParaRPr lang="en-US" sz="1280" dirty="0"/>
                    </a:p>
                  </a:txBody>
                  <a:tcPr marL="73152" marR="73152" marT="73152" marB="73152">
                    <a:lnL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72033"/>
                          </a:solidFill>
                        </a:rPr>
                        <a:t>MLE intuition + R code</a:t>
                      </a:r>
                      <a:endParaRPr lang="en-US" sz="1280" dirty="0"/>
                    </a:p>
                  </a:txBody>
                  <a:tcPr marL="73152" marR="73152" marT="73152" marB="73152">
                    <a:lnL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72033"/>
                          </a:solidFill>
                        </a:rPr>
                        <a:t>25</a:t>
                      </a:r>
                      <a:endParaRPr lang="en-US" sz="1280" dirty="0"/>
                    </a:p>
                  </a:txBody>
                  <a:tcPr marL="73152" marR="73152" marT="73152" marB="73152">
                    <a:lnL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72033"/>
                          </a:solidFill>
                        </a:rPr>
                        <a:t>Show likelihood and optim() mechanics</a:t>
                      </a:r>
                      <a:endParaRPr lang="en-US" sz="1280" dirty="0"/>
                    </a:p>
                  </a:txBody>
                  <a:tcPr marL="73152" marR="73152" marT="73152" marB="73152">
                    <a:lnL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72033"/>
                          </a:solidFill>
                        </a:rPr>
                        <a:t>Interpretation lab</a:t>
                      </a:r>
                      <a:endParaRPr lang="en-US" sz="1280" dirty="0"/>
                    </a:p>
                  </a:txBody>
                  <a:tcPr marL="73152" marR="73152" marT="73152" marB="73152">
                    <a:lnL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72033"/>
                          </a:solidFill>
                        </a:rPr>
                        <a:t>20</a:t>
                      </a:r>
                      <a:endParaRPr lang="en-US" sz="1280" dirty="0"/>
                    </a:p>
                  </a:txBody>
                  <a:tcPr marL="73152" marR="73152" marT="73152" marB="73152">
                    <a:lnL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72033"/>
                          </a:solidFill>
                        </a:rPr>
                        <a:t>Predicted probabilities, Challenger exercise</a:t>
                      </a:r>
                      <a:endParaRPr lang="en-US" sz="1280" dirty="0"/>
                    </a:p>
                  </a:txBody>
                  <a:tcPr marL="73152" marR="73152" marT="73152" marB="73152">
                    <a:lnL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72033"/>
                          </a:solidFill>
                        </a:rPr>
                        <a:t>Bridge to network edges</a:t>
                      </a:r>
                      <a:endParaRPr lang="en-US" sz="1280" dirty="0"/>
                    </a:p>
                  </a:txBody>
                  <a:tcPr marL="73152" marR="73152" marT="73152" marB="73152">
                    <a:lnL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72033"/>
                          </a:solidFill>
                        </a:rPr>
                        <a:t>10</a:t>
                      </a:r>
                      <a:endParaRPr lang="en-US" sz="1280" dirty="0"/>
                    </a:p>
                  </a:txBody>
                  <a:tcPr marL="73152" marR="73152" marT="73152" marB="73152">
                    <a:lnL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72033"/>
                          </a:solidFill>
                        </a:rPr>
                        <a:t>Potential edges as binary observations</a:t>
                      </a:r>
                      <a:endParaRPr lang="en-US" sz="1280" dirty="0"/>
                    </a:p>
                  </a:txBody>
                  <a:tcPr marL="73152" marR="73152" marT="73152" marB="73152">
                    <a:lnL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72033"/>
                          </a:solidFill>
                        </a:rPr>
                        <a:t>LSGM theory + estimation</a:t>
                      </a:r>
                      <a:endParaRPr lang="en-US" sz="1280" dirty="0"/>
                    </a:p>
                  </a:txBody>
                  <a:tcPr marL="73152" marR="73152" marT="73152" marB="73152">
                    <a:lnL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72033"/>
                          </a:solidFill>
                        </a:rPr>
                        <a:t>35</a:t>
                      </a:r>
                      <a:endParaRPr lang="en-US" sz="1280" dirty="0"/>
                    </a:p>
                  </a:txBody>
                  <a:tcPr marL="73152" marR="73152" marT="73152" marB="73152">
                    <a:lnL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72033"/>
                          </a:solidFill>
                        </a:rPr>
                        <a:t>W, Aᵢ, pseudo-likelihood, η, SE simulation</a:t>
                      </a:r>
                      <a:endParaRPr lang="en-US" sz="1280" dirty="0"/>
                    </a:p>
                  </a:txBody>
                  <a:tcPr marL="73152" marR="73152" marT="73152" marB="73152">
                    <a:lnL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72033"/>
                          </a:solidFill>
                        </a:rPr>
                        <a:t>Applied exercise</a:t>
                      </a:r>
                      <a:endParaRPr lang="en-US" sz="1280" dirty="0"/>
                    </a:p>
                  </a:txBody>
                  <a:tcPr marL="73152" marR="73152" marT="73152" marB="73152">
                    <a:lnL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72033"/>
                          </a:solidFill>
                        </a:rPr>
                        <a:t>20</a:t>
                      </a:r>
                      <a:endParaRPr lang="en-US" sz="1280" dirty="0"/>
                    </a:p>
                  </a:txBody>
                  <a:tcPr marL="73152" marR="73152" marT="73152" marB="73152">
                    <a:lnL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80" dirty="0">
                          <a:solidFill>
                            <a:srgbClr val="172033"/>
                          </a:solidFill>
                        </a:rPr>
                        <a:t>Alliances or insurgent attacks</a:t>
                      </a:r>
                      <a:endParaRPr lang="en-US" sz="1280" dirty="0"/>
                    </a:p>
                  </a:txBody>
                  <a:tcPr marL="73152" marR="73152" marT="73152" marB="73152">
                    <a:lnL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1874520" y="4892040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BDE8E6">
              <a:alpha val="90000"/>
            </a:srgbClr>
          </a:solidFill>
          <a:ln w="12700">
            <a:solidFill>
              <a:srgbClr val="BDE8E6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039112" y="5029200"/>
            <a:ext cx="8083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72033"/>
                </a:solidFill>
              </a:rPr>
              <a:t>Strongest through-line: every slide answers “what is pᵢ, and what determines it?”</a:t>
            </a:r>
            <a:endParaRPr lang="en-US" sz="16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1: logit by hand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A short exercise before the LSGM extension.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" y="1234440"/>
            <a:ext cx="539496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Load the UCLA admissions data.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Construct X with an intercept and rank indicators.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Write the log-likelihood function.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Estimate using optim().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Compare to glm(..., family = binomial).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Plot predicted probabilities over GPA by rank.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0" y="1371600"/>
            <a:ext cx="4709160" cy="2148840"/>
          </a:xfrm>
          <a:prstGeom prst="roundRect">
            <a:avLst>
              <a:gd name="adj" fmla="val 2128"/>
            </a:avLst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536192"/>
            <a:ext cx="43891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mydata &lt;- read.csv("https://stats.idre.ucla.edu/stat/data/binary.csv")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&lt;- mydata$admit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&lt;- model.matrix(~ gre + gpa + factor(rank), data=mydata)</a:t>
            </a:r>
            <a:endParaRPr lang="en-US" sz="1260" dirty="0"/>
          </a:p>
          <a:p>
            <a:pPr indent="0" marL="0">
              <a:buNone/>
            </a:pP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 &lt;- optim(rep(0, ncol(X)), MyLogLike,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Y=Y, X=X, method="BFGS")</a:t>
            </a:r>
            <a:endParaRPr lang="en-US" sz="1260" dirty="0"/>
          </a:p>
        </p:txBody>
      </p:sp>
      <p:sp>
        <p:nvSpPr>
          <p:cNvPr id="11" name="Shape 9"/>
          <p:cNvSpPr/>
          <p:nvPr/>
        </p:nvSpPr>
        <p:spPr>
          <a:xfrm>
            <a:off x="6400800" y="3977640"/>
            <a:ext cx="4572000" cy="777240"/>
          </a:xfrm>
          <a:prstGeom prst="roundRect">
            <a:avLst>
              <a:gd name="adj" fmla="val 7059"/>
            </a:avLst>
          </a:prstGeom>
          <a:solidFill>
            <a:srgbClr val="E39C48">
              <a:alpha val="80000"/>
            </a:srgbClr>
          </a:solidFill>
          <a:ln w="12700">
            <a:solidFill>
              <a:srgbClr val="E39C4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4114800"/>
            <a:ext cx="4242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Deliverable: a plot and a one-paragraph interpretation in probabilities.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2: build an LSGM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Students edit the logit likelihood rather than starting from scratch.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39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" y="1234440"/>
            <a:ext cx="553212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70" dirty="0">
                <a:solidFill>
                  <a:srgbClr val="172033"/>
                </a:solidFill>
              </a:rPr>
              <a:t>Start from the logit likelihood function.</a:t>
            </a:r>
            <a:endParaRPr lang="en-US" sz="1670" dirty="0"/>
          </a:p>
          <a:p>
            <a:pPr marL="177800" indent="-177800">
              <a:buSzPct val="100000"/>
              <a:buChar char="•"/>
            </a:pPr>
            <a:r>
              <a:rPr lang="en-US" sz="1670" dirty="0">
                <a:solidFill>
                  <a:srgbClr val="172033"/>
                </a:solidFill>
              </a:rPr>
              <a:t>Add η to the parameter vector.</a:t>
            </a:r>
            <a:endParaRPr lang="en-US" sz="1670" dirty="0"/>
          </a:p>
          <a:p>
            <a:pPr marL="177800" indent="-177800">
              <a:buSzPct val="100000"/>
              <a:buChar char="•"/>
            </a:pPr>
            <a:r>
              <a:rPr lang="en-US" sz="1670" dirty="0">
                <a:solidFill>
                  <a:srgbClr val="172033"/>
                </a:solidFill>
              </a:rPr>
              <a:t>Compute κ = logit⁻¹(Xβ).</a:t>
            </a:r>
            <a:endParaRPr lang="en-US" sz="1670" dirty="0"/>
          </a:p>
          <a:p>
            <a:pPr marL="177800" indent="-177800">
              <a:buSzPct val="100000"/>
              <a:buChar char="•"/>
            </a:pPr>
            <a:r>
              <a:rPr lang="en-US" sz="1670" dirty="0">
                <a:solidFill>
                  <a:srgbClr val="172033"/>
                </a:solidFill>
              </a:rPr>
              <a:t>Define Aᵢ = qlogis(κᵢ) + η W(Y−κ).</a:t>
            </a:r>
            <a:endParaRPr lang="en-US" sz="1670" dirty="0"/>
          </a:p>
          <a:p>
            <a:pPr marL="177800" indent="-177800">
              <a:buSzPct val="100000"/>
              <a:buChar char="•"/>
            </a:pPr>
            <a:r>
              <a:rPr lang="en-US" sz="1670" dirty="0">
                <a:solidFill>
                  <a:srgbClr val="172033"/>
                </a:solidFill>
              </a:rPr>
              <a:t>Use pᵢ = logit⁻¹(Aᵢ) in the pseudo-likelihood.</a:t>
            </a:r>
            <a:endParaRPr lang="en-US" sz="1670" dirty="0"/>
          </a:p>
          <a:p>
            <a:pPr marL="177800" indent="-177800">
              <a:buSzPct val="100000"/>
              <a:buChar char="•"/>
            </a:pPr>
            <a:r>
              <a:rPr lang="en-US" sz="1670" dirty="0">
                <a:solidFill>
                  <a:srgbClr val="172033"/>
                </a:solidFill>
              </a:rPr>
              <a:t>Interpret η as complementarity/substitution.</a:t>
            </a:r>
            <a:endParaRPr lang="en-US" sz="1670" dirty="0"/>
          </a:p>
        </p:txBody>
      </p:sp>
      <p:sp>
        <p:nvSpPr>
          <p:cNvPr id="9" name="Shape 7"/>
          <p:cNvSpPr/>
          <p:nvPr/>
        </p:nvSpPr>
        <p:spPr>
          <a:xfrm>
            <a:off x="6492240" y="1417320"/>
            <a:ext cx="4434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56832" y="1536192"/>
            <a:ext cx="4105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Aᵢ = Xᵢᵀβ + η Σⱼ wᵢⱼ(yⱼ−κⱼ)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92240" y="2697480"/>
            <a:ext cx="4434840" cy="914400"/>
          </a:xfrm>
          <a:prstGeom prst="roundRect">
            <a:avLst>
              <a:gd name="adj" fmla="val 6000"/>
            </a:avLst>
          </a:prstGeom>
          <a:solidFill>
            <a:srgbClr val="BDE8E6">
              <a:alpha val="90000"/>
            </a:srgbClr>
          </a:solidFill>
          <a:ln w="12700">
            <a:solidFill>
              <a:srgbClr val="BDE8E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56832" y="2834640"/>
            <a:ext cx="4105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30" b="1" dirty="0">
                <a:solidFill>
                  <a:srgbClr val="172033"/>
                </a:solidFill>
              </a:rPr>
              <a:t>This is the “aha” moment: the logit likelihood barely changes; the linear predictor changes.</a:t>
            </a:r>
            <a:endParaRPr lang="en-US" sz="163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Diagnostic questions for students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Use these to check whether the lecture landed.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" y="1234440"/>
            <a:ext cx="562356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Why is a logit coefficient not a probability effect?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What quantity does maximum likelihood maximize?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What is κᵢ in the LSGM?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What does W encode?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What does η &gt; 0 mean substantively?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72033"/>
                </a:solidFill>
              </a:rPr>
              <a:t>Why do we use pseudo-likelihood rather than the full likelihood?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629400" y="2011680"/>
            <a:ext cx="4206240" cy="1051560"/>
          </a:xfrm>
          <a:prstGeom prst="roundRect">
            <a:avLst>
              <a:gd name="adj" fmla="val 5217"/>
            </a:avLst>
          </a:prstGeom>
          <a:solidFill>
            <a:srgbClr val="E39C48">
              <a:alpha val="80000"/>
            </a:srgbClr>
          </a:solidFill>
          <a:ln w="12700">
            <a:solidFill>
              <a:srgbClr val="E39C4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93992" y="2148840"/>
            <a:ext cx="3877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72033"/>
                </a:solidFill>
              </a:rPr>
              <a:t>Best answer pattern: define the statistical quantity, then translate it into the substantive network process.</a:t>
            </a:r>
            <a:endParaRPr lang="en-US" sz="16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190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Readings and source decks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78638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Core references carried forward from the original LSGM lecture.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" y="1188720"/>
            <a:ext cx="1042416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Casleton, Nordman, and Kaiser. 2017. “A local structure model for network analysis.” Statistics and Its Interface.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Chyzh and Kaiser. 2019. “Network analysis using a local structure graph model.” Political Analysis.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Nieman, Martinez Machain, Chyzh, and Bell. 2021. “An International Game of Risk.” Journal of Politics.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2033"/>
                </a:solidFill>
              </a:rPr>
              <a:t>Original course decks: “Models for Binary DVs” and “A Local Structure Graph Model.”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440" y="4709160"/>
            <a:ext cx="9692640" cy="713232"/>
          </a:xfrm>
          <a:prstGeom prst="roundRect">
            <a:avLst>
              <a:gd name="adj" fmla="val 7692"/>
            </a:avLst>
          </a:prstGeom>
          <a:solidFill>
            <a:srgbClr val="BDE8E6">
              <a:alpha val="90000"/>
            </a:srgbClr>
          </a:solidFill>
          <a:ln w="12700">
            <a:solidFill>
              <a:srgbClr val="BDE8E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99032" y="4846320"/>
            <a:ext cx="93634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72033"/>
                </a:solidFill>
              </a:rPr>
              <a:t>Revision choice: probit material is cut so the lecture moves from logit estimation directly into LSGM.</a:t>
            </a:r>
            <a:endParaRPr lang="en-US" sz="16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097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DE8E6"/>
                </a:solidFill>
              </a:rPr>
              <a:t>Key takeaway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9601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Logit estimates probabilities for binary outcomes. LSGM keeps that machinery, but lets the probability of an edge depend on its local network environment.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2057400" y="4206240"/>
            <a:ext cx="8001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6E8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21992" y="4325112"/>
            <a:ext cx="76718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pᵢ = logit⁻¹( Xᵢᵀβ + η Wᵢ·(Y−κ) 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384280" y="640994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42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University of Toronto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Logistic Regression to the Local Structure Graph Model</dc:title>
  <dc:subject>Logistic Regression and Local Structure Graph Models</dc:subject>
  <dc:creator>Olga Chyzh</dc:creator>
  <cp:lastModifiedBy>Olga Chyzh</cp:lastModifiedBy>
  <cp:revision>1</cp:revision>
  <dcterms:created xsi:type="dcterms:W3CDTF">2026-07-16T13:23:39Z</dcterms:created>
  <dcterms:modified xsi:type="dcterms:W3CDTF">2026-07-16T13:23:39Z</dcterms:modified>
</cp:coreProperties>
</file>