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Simulated ER networks</c:v>
                </c:pt>
              </c:strCache>
            </c:strRef>
          </c:tx>
          <c:spPr>
            <a:solidFill>
              <a:srgbClr val="2E6F7E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0-.02</c:v>
                </c:pt>
                <c:pt idx="1">
                  <c:v>.02-.04</c:v>
                </c:pt>
                <c:pt idx="2">
                  <c:v>.04-.06</c:v>
                </c:pt>
                <c:pt idx="3">
                  <c:v>.06-.08</c:v>
                </c:pt>
                <c:pt idx="4">
                  <c:v>.08-.10</c:v>
                </c:pt>
                <c:pt idx="5">
                  <c:v>.10-.12</c:v>
                </c:pt>
                <c:pt idx="6">
                  <c:v>.12-.14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</c:v>
                </c:pt>
                <c:pt idx="1">
                  <c:v>220</c:v>
                </c:pt>
                <c:pt idx="2">
                  <c:v>394</c:v>
                </c:pt>
                <c:pt idx="3">
                  <c:v>247</c:v>
                </c:pt>
                <c:pt idx="4">
                  <c:v>82</c:v>
                </c:pt>
                <c:pt idx="5">
                  <c:v>17</c:v>
                </c:pt>
                <c:pt idx="6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04-43D2-B366-6E1FF694DF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4990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252" y="0"/>
            <a:ext cx="12191695" cy="6858000"/>
          </a:xfrm>
          <a:prstGeom prst="rect">
            <a:avLst/>
          </a:prstGeom>
          <a:solidFill>
            <a:srgbClr val="123142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5943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7C9D3"/>
                </a:solidFill>
              </a:rPr>
              <a:t>Advanced Network Analysis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77240" y="1325880"/>
            <a:ext cx="8869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Random Graphs as a Baseline for Network Inference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04672" y="288036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DEBF0"/>
                </a:solidFill>
              </a:rPr>
              <a:t>From “what does this network look like?” to “is this structure surprising?”</a:t>
            </a:r>
            <a:endParaRPr lang="en-US" sz="2000" dirty="0"/>
          </a:p>
        </p:txBody>
      </p:sp>
      <p:pic>
        <p:nvPicPr>
          <p:cNvPr id="6" name="Image 0" descr="/mnt/data/observed_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509" y="3886200"/>
            <a:ext cx="4113542" cy="1920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6172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D5DD"/>
                </a:solidFill>
              </a:rPr>
              <a:t>Olga Chyzh · www.olgachyzh.com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Today’s question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F2B33"/>
                </a:solidFill>
              </a:rPr>
              <a:t>Which features of the observed friendship network would be unlikely if edges formed independently?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88720" y="2331720"/>
            <a:ext cx="548640" cy="548640"/>
          </a:xfrm>
          <a:prstGeom prst="rect">
            <a:avLst/>
          </a:prstGeom>
          <a:solidFill>
            <a:srgbClr val="2E6F7E"/>
          </a:solidFill>
          <a:ln>
            <a:solidFill>
              <a:srgbClr val="2E6F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874520" y="2377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</a:rPr>
              <a:t>Describe the observed network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3154680"/>
            <a:ext cx="548640" cy="548640"/>
          </a:xfrm>
          <a:prstGeom prst="rect">
            <a:avLst/>
          </a:prstGeom>
          <a:solidFill>
            <a:srgbClr val="2E6F7E"/>
          </a:solidFill>
          <a:ln>
            <a:solidFill>
              <a:srgbClr val="2E6F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74520" y="32004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</a:rPr>
              <a:t>Define an independence baseline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3977640"/>
            <a:ext cx="548640" cy="548640"/>
          </a:xfrm>
          <a:prstGeom prst="rect">
            <a:avLst/>
          </a:prstGeom>
          <a:solidFill>
            <a:srgbClr val="2E6F7E"/>
          </a:solidFill>
          <a:ln>
            <a:solidFill>
              <a:srgbClr val="2E6F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87452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</a:rPr>
              <a:t>Simulate networks from the baseline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88720" y="4800600"/>
            <a:ext cx="548640" cy="548640"/>
          </a:xfrm>
          <a:prstGeom prst="rect">
            <a:avLst/>
          </a:prstGeom>
          <a:solidFill>
            <a:srgbClr val="2E6F7E"/>
          </a:solidFill>
          <a:ln>
            <a:solidFill>
              <a:srgbClr val="2E6F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874520" y="48463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</a:rPr>
              <a:t>Compare observed vs. simulated features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Observed friendship network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3</a:t>
            </a:r>
            <a:endParaRPr lang="en-US" sz="850" dirty="0"/>
          </a:p>
        </p:txBody>
      </p:sp>
      <p:pic>
        <p:nvPicPr>
          <p:cNvPr id="6" name="Image 0" descr="/mnt/data/observed_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55936"/>
            <a:ext cx="5943600" cy="27745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995160" y="1463040"/>
            <a:ext cx="42976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20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some students receive many nominations?</a:t>
            </a:r>
            <a:endParaRPr lang="en-US" sz="2000" dirty="0"/>
          </a:p>
          <a:p>
            <a:r>
              <a:rPr lang="en-US" sz="20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 friendships reciprocated?</a:t>
            </a:r>
            <a:endParaRPr lang="en-US" sz="2000" dirty="0"/>
          </a:p>
          <a:p>
            <a:r>
              <a:rPr lang="en-US" sz="20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friends of friends tend to be friends?</a:t>
            </a:r>
            <a:endParaRPr lang="en-US" sz="2000" dirty="0"/>
          </a:p>
          <a:p>
            <a:r>
              <a:rPr lang="en-US" sz="20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Are there groups or clusters?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1143000" y="4828032"/>
            <a:ext cx="9875520" cy="749808"/>
          </a:xfrm>
          <a:prstGeom prst="roundRect">
            <a:avLst>
              <a:gd name="adj" fmla="val 9756"/>
            </a:avLst>
          </a:prstGeom>
          <a:solidFill>
            <a:srgbClr val="EAF3F8"/>
          </a:solidFill>
          <a:ln w="12700">
            <a:solidFill>
              <a:srgbClr val="2E6F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307592" y="4937760"/>
            <a:ext cx="95463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 is not just to describe these patterns. It is to ask whether they are more structured than chance.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Translate visual patterns into network statistics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4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" y="1234440"/>
            <a:ext cx="3505200" cy="70866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pattern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328160" y="1234440"/>
            <a:ext cx="3505200" cy="70866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Network statistic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33360" y="1234440"/>
            <a:ext cx="3505200" cy="70866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Social interpretation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194310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edge exists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328160" y="194310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Edges / density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33360" y="194310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common ties are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265176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→ j and j → 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28160" y="265176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Mutual ties / reciprocity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833360" y="265176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Friendship is returned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36042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Friends of friends become friends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28160" y="336042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Triangles / closure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833360" y="336042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clustering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06908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actors receive many ties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28160" y="406908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In-stars / indegree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833360" y="406908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Popularity or prestige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" y="477774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actors send many ties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28160" y="477774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Out-stars / outdegree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833360" y="4777740"/>
            <a:ext cx="3505200" cy="7086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Activity or expansiveness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188720" y="5696712"/>
            <a:ext cx="9784080" cy="438912"/>
          </a:xfrm>
          <a:prstGeom prst="roundRect">
            <a:avLst>
              <a:gd name="adj" fmla="val 16667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353312" y="5806440"/>
            <a:ext cx="945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statistics become diagnostics: which patterns can a simple random graph reproduce?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Load and describe the observed network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5</a:t>
            </a:r>
            <a:endParaRPr lang="en-US" sz="850" dirty="0"/>
          </a:p>
        </p:txBody>
      </p:sp>
      <p:pic>
        <p:nvPicPr>
          <p:cNvPr id="6" name="Image 0" descr="/mnt/data/code_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90345"/>
            <a:ext cx="5715000" cy="39687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12280" y="1481328"/>
            <a:ext cx="1539240" cy="508406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Quantity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351520" y="1481328"/>
            <a:ext cx="1539240" cy="508406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890760" y="1481328"/>
            <a:ext cx="1539240" cy="508406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12280" y="1989734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351520" y="1989734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73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890760" y="1989734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812280" y="2498141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351520" y="2498141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243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9890760" y="2498141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directed friendship nominations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812280" y="3006547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Density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351520" y="3006547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0.046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9890760" y="3006547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4.6% of possible directed ties are present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812280" y="3514954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Reciprocity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351520" y="3514954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0.510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890760" y="3514954"/>
            <a:ext cx="1539240" cy="508406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ties are reciprocated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903720" y="4416552"/>
            <a:ext cx="4434840" cy="777240"/>
          </a:xfrm>
          <a:prstGeom prst="roundRect">
            <a:avLst>
              <a:gd name="adj" fmla="val 9412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7068312" y="4526280"/>
            <a:ext cx="41056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Question: Is 0.510 reciprocity high for a network this sparse?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would “random” mean for a network?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6</a:t>
            </a:r>
            <a:endParaRPr lang="en-US" sz="850" dirty="0"/>
          </a:p>
        </p:txBody>
      </p:sp>
      <p:pic>
        <p:nvPicPr>
          <p:cNvPr id="6" name="Image 0" descr="/mnt/data/possible_ed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13878"/>
            <a:ext cx="4297680" cy="28740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532120" y="1188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3142"/>
                </a:solidFill>
              </a:rPr>
              <a:t>Erdős–Rényi directed graph:  G(N, p)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532120" y="17373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B33"/>
                </a:solidFill>
              </a:rPr>
              <a:t>For every possible directed edge i → j: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532120" y="214884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6F7E"/>
                </a:solidFill>
              </a:rPr>
              <a:t>Yᵢⱼ ~ Bernoulli(p)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5532120" y="2971800"/>
            <a:ext cx="5257800" cy="612648"/>
          </a:xfrm>
          <a:prstGeom prst="roundRect">
            <a:avLst>
              <a:gd name="adj" fmla="val 11940"/>
            </a:avLst>
          </a:prstGeom>
          <a:solidFill>
            <a:srgbClr val="EAF3F8"/>
          </a:solidFill>
          <a:ln w="12700">
            <a:solidFill>
              <a:srgbClr val="2E6F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696712" y="3081528"/>
            <a:ext cx="49286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 1: every potential edge has the same probability 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532120" y="3886200"/>
            <a:ext cx="5257800" cy="612648"/>
          </a:xfrm>
          <a:prstGeom prst="roundRect">
            <a:avLst>
              <a:gd name="adj" fmla="val 11940"/>
            </a:avLst>
          </a:prstGeom>
          <a:solidFill>
            <a:srgbClr val="EAF3F8"/>
          </a:solidFill>
          <a:ln w="12700">
            <a:solidFill>
              <a:srgbClr val="2E6F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696712" y="3995928"/>
            <a:ext cx="492861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 2: edges are independent of one another.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005840" y="54406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B33"/>
                </a:solidFill>
              </a:rPr>
              <a:t>This rules out reciprocity, popularity, clustering, and group structure by design.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Estimate the baseline edge probability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F2B33"/>
                </a:solidFill>
              </a:rPr>
              <a:t>Directed network, no self-ties: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4983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2E6F7E"/>
                </a:solidFill>
              </a:rPr>
              <a:t>Possible edges = N(N − 1)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2E6F7E"/>
                </a:solidFill>
              </a:rPr>
              <a:t>= 73 × 72 = 5,256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743200"/>
            <a:ext cx="5166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2E6F7E"/>
                </a:solidFill>
              </a:rPr>
              <a:t>p̂ = observed edges / possible edges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2E6F7E"/>
                </a:solidFill>
              </a:rPr>
              <a:t>= 243 / 5,256 = 0.046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3977640"/>
            <a:ext cx="5303520" cy="731520"/>
          </a:xfrm>
          <a:prstGeom prst="roundRect">
            <a:avLst>
              <a:gd name="adj" fmla="val 10000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78992" y="4087368"/>
            <a:ext cx="4974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fitted random graph reproduces the observed density in expectation.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417320"/>
            <a:ext cx="2240280" cy="612648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Matched by construction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869680" y="1417320"/>
            <a:ext cx="2240280" cy="612648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matched by construction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0" y="2029968"/>
            <a:ext cx="2240280" cy="612648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edges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869680" y="2029968"/>
            <a:ext cx="2240280" cy="612648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Reciprocity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29400" y="2642616"/>
            <a:ext cx="2240280" cy="612648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density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69680" y="2642616"/>
            <a:ext cx="2240280" cy="612648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Triangles / clustering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29400" y="3255264"/>
            <a:ext cx="2240280" cy="612648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869680" y="3255264"/>
            <a:ext cx="2240280" cy="612648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Degree distribution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867912"/>
            <a:ext cx="2240280" cy="612648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69680" y="3867912"/>
            <a:ext cx="2240280" cy="612648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Communities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Simulate one random graph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" y="11430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6F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1463040"/>
            <a:ext cx="47548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21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N unconnected actors.</a:t>
            </a:r>
            <a:endParaRPr lang="en-US" sz="2100" dirty="0"/>
          </a:p>
          <a:p>
            <a:r>
              <a:rPr lang="en-US" sz="21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every ordered pair i ≠ j, flip a biased coin.</a:t>
            </a:r>
            <a:endParaRPr lang="en-US" sz="2100" dirty="0"/>
          </a:p>
          <a:p>
            <a:r>
              <a:rPr lang="en-US" sz="21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Yᵢⱼ = 1 with probability p̂ = 0.046.</a:t>
            </a:r>
            <a:endParaRPr lang="en-US" sz="2100" dirty="0"/>
          </a:p>
          <a:p>
            <a:r>
              <a:rPr lang="en-US" sz="21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Otherwise set Yᵢⱼ = 0.</a:t>
            </a:r>
            <a:endParaRPr lang="en-US" sz="2100" dirty="0"/>
          </a:p>
        </p:txBody>
      </p:sp>
      <p:pic>
        <p:nvPicPr>
          <p:cNvPr id="8" name="Image 0" descr="/mnt/data/code_sim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203" y="1188720"/>
            <a:ext cx="5155474" cy="3383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43000" y="5047488"/>
            <a:ext cx="9784080" cy="530352"/>
          </a:xfrm>
          <a:prstGeom prst="roundRect">
            <a:avLst>
              <a:gd name="adj" fmla="val 13793"/>
            </a:avLst>
          </a:prstGeom>
          <a:solidFill>
            <a:srgbClr val="EAF3F8"/>
          </a:solidFill>
          <a:ln w="12700">
            <a:solidFill>
              <a:srgbClr val="2E6F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307592" y="5157216"/>
            <a:ext cx="945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code draws one possible network from the Erdős–Rényi baseline.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draw from G(N, p) will not exactly match 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9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14400" y="1234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F2B33"/>
                </a:solidFill>
              </a:rPr>
              <a:t>The model is calibrated so that: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51560" y="18288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E6F7E"/>
                </a:solidFill>
              </a:rPr>
              <a:t>E[M] = N(N − 1)p = 5,256 × 0.046 = 243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1097280" y="2834640"/>
            <a:ext cx="5760720" cy="822960"/>
          </a:xfrm>
          <a:prstGeom prst="roundRect">
            <a:avLst>
              <a:gd name="adj" fmla="val 8889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261872" y="2944368"/>
            <a:ext cx="5431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243 is the expected number of edges, not a constraint on every simulated network.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097280" y="3977640"/>
            <a:ext cx="5760720" cy="822960"/>
          </a:xfrm>
          <a:prstGeom prst="roundRect">
            <a:avLst>
              <a:gd name="adj" fmla="val 8889"/>
            </a:avLst>
          </a:prstGeom>
          <a:solidFill>
            <a:srgbClr val="EAF3F8"/>
          </a:solidFill>
          <a:ln w="12700">
            <a:solidFill>
              <a:srgbClr val="2E6F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61872" y="4087368"/>
            <a:ext cx="5431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one simulation, the random graph had 232 edges. That is not a coding error.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360920" y="28803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23142"/>
                </a:solidFill>
              </a:rPr>
              <a:t>Next: compare features other than density.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Observed network vs. one random graph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097280" y="11430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142"/>
                </a:solidFill>
              </a:rPr>
              <a:t>Observed friendship network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37960" y="1143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142"/>
                </a:solidFill>
              </a:rPr>
              <a:t>One ER random graph</a:t>
            </a:r>
            <a:endParaRPr lang="en-US" sz="1800" dirty="0"/>
          </a:p>
        </p:txBody>
      </p:sp>
      <p:pic>
        <p:nvPicPr>
          <p:cNvPr id="8" name="Image 0" descr="/mnt/data/observed_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79653"/>
            <a:ext cx="5303520" cy="2475733"/>
          </a:xfrm>
          <a:prstGeom prst="rect">
            <a:avLst/>
          </a:prstGeom>
        </p:spPr>
      </p:pic>
      <p:pic>
        <p:nvPicPr>
          <p:cNvPr id="9" name="Image 1" descr="/mnt/data/random_net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1747174"/>
            <a:ext cx="5303520" cy="25406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005840" y="4983480"/>
            <a:ext cx="10149840" cy="594360"/>
          </a:xfrm>
          <a:prstGeom prst="roundRect">
            <a:avLst>
              <a:gd name="adj" fmla="val 12308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1170432" y="5093208"/>
            <a:ext cx="982065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 for: reciprocal pairs, local closure, hubs, and clusters—not just the number of edges.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Random graph vs observed network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11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2640330" cy="60579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63290" y="1325880"/>
            <a:ext cx="2640330" cy="60579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03620" y="1325880"/>
            <a:ext cx="2640330" cy="60579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ER simulation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43950" y="1325880"/>
            <a:ext cx="2640330" cy="60579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93167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Density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63290" y="193167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0.046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03620" y="193167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0.044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743950" y="193167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 by construction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253746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63290" y="253746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103620" y="253746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743950" y="253746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Close, but not exact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314325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Reciprocity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463290" y="314325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0.510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103620" y="314325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0.034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743950" y="3143250"/>
            <a:ext cx="2640330" cy="60579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network is far more reciprocal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1143000" y="4434840"/>
            <a:ext cx="9875520" cy="731520"/>
          </a:xfrm>
          <a:prstGeom prst="roundRect">
            <a:avLst>
              <a:gd name="adj" fmla="val 10000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307592" y="4544568"/>
            <a:ext cx="95463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Matching density alone does not reproduce a core social process: reciprocated friendship.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simulation is not a reference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12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005840" y="11887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23142"/>
                </a:solidFill>
              </a:rPr>
              <a:t>Every random graph draw is different.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566928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22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comparison could be unusually high or low.</a:t>
            </a:r>
            <a:endParaRPr lang="en-US" sz="2200" dirty="0"/>
          </a:p>
          <a:p>
            <a:r>
              <a:rPr lang="en-US" sz="22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need many simulated networks to learn what values are typical.</a:t>
            </a:r>
            <a:endParaRPr lang="en-US" sz="2200" dirty="0"/>
          </a:p>
          <a:p>
            <a:r>
              <a:rPr lang="en-US" sz="22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we ask where the observed statistic falls in that distribution.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040880" y="2240280"/>
            <a:ext cx="3749040" cy="1280160"/>
          </a:xfrm>
          <a:prstGeom prst="roundRect">
            <a:avLst>
              <a:gd name="adj" fmla="val 5714"/>
            </a:avLst>
          </a:prstGeom>
          <a:solidFill>
            <a:srgbClr val="EAF3F8"/>
          </a:solidFill>
          <a:ln w="12700">
            <a:solidFill>
              <a:srgbClr val="2E6F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05472" y="2350008"/>
            <a:ext cx="34198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Inferential logic: observed statistic vs. simulated reference distribution.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Simulate the reference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13</a:t>
            </a:r>
            <a:endParaRPr lang="en-US" sz="850" dirty="0"/>
          </a:p>
        </p:txBody>
      </p:sp>
      <p:pic>
        <p:nvPicPr>
          <p:cNvPr id="6" name="Image 0" descr="/mnt/data/code_si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25" y="1143000"/>
            <a:ext cx="5908431" cy="4389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78040" y="1234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3142"/>
                </a:solidFill>
              </a:rPr>
              <a:t>What this creates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178040" y="1874520"/>
            <a:ext cx="420624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20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1,000 plausible networks under the independence baseline</a:t>
            </a:r>
            <a:endParaRPr lang="en-US" sz="2000" dirty="0"/>
          </a:p>
          <a:p>
            <a:r>
              <a:rPr lang="en-US" sz="20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1,000 values of reciprocity</a:t>
            </a:r>
            <a:endParaRPr lang="en-US" sz="2000" dirty="0"/>
          </a:p>
          <a:p>
            <a:r>
              <a:rPr lang="en-US" sz="20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benchmark for whether observed reciprocity is surprising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223760" y="4846320"/>
            <a:ext cx="3840480" cy="658368"/>
          </a:xfrm>
          <a:prstGeom prst="roundRect">
            <a:avLst>
              <a:gd name="adj" fmla="val 11111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388352" y="4956048"/>
            <a:ext cx="35112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step that turns random graphs into an inferential baseline.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Observed reciprocity is far outside the ER baseline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14</a:t>
            </a:r>
            <a:endParaRPr lang="en-US" sz="85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777240" y="1234440"/>
          <a:ext cx="6766560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874520"/>
            <a:ext cx="2926080" cy="777240"/>
          </a:xfrm>
          <a:prstGeom prst="roundRect">
            <a:avLst>
              <a:gd name="adj" fmla="val 9412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257032" y="1984248"/>
            <a:ext cx="25968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reciprocity = 0.510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001000" y="306324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1F2B33"/>
                </a:solidFill>
              </a:rPr>
              <a:t>The random-graph distribution is concentrated near 0.05. The observed network is not just a little more reciprocal—it is on a different scale.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ER baseline fails on several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15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20340" cy="67056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406140" y="1143000"/>
            <a:ext cx="2720340" cy="67056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0" y="1143000"/>
            <a:ext cx="2720340" cy="67056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846820" y="1143000"/>
            <a:ext cx="2720340" cy="67056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suggests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81356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06140" y="181356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81356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846820" y="181356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Density is roughly matched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48412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Mutual ties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06140" y="248412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26480" y="248412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846820" y="248412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reciprocity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315468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Triangles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06140" y="315468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26480" y="315468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46820" y="315468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local closure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382524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Two-out-stars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06140" y="382524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26480" y="382524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846820" y="382524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sender heterogeneity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" y="449580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Two-in-stars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06140" y="449580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542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449580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846820" y="4495800"/>
            <a:ext cx="2720340" cy="67056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Popularity concentration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097280" y="5513832"/>
            <a:ext cx="9921240" cy="502920"/>
          </a:xfrm>
          <a:prstGeom prst="roundRect">
            <a:avLst>
              <a:gd name="adj" fmla="val 14545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261872" y="5623560"/>
            <a:ext cx="95920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comparison tells us which endogenous network processes the next model should include.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discrepancy to model specification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16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3627120" cy="72390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discrepancy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312920" y="1143000"/>
            <a:ext cx="3627120" cy="72390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 ERGM term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40040" y="1143000"/>
            <a:ext cx="3627120" cy="72390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18669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edges than expected baseline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312920" y="18669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940040" y="18669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tie propensity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25908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 much reciprocity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312920" y="25908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mutual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40040" y="25908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→ j makes j → i more likely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33147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 many closed triples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312920" y="33147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triangles / gwesp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940040" y="33147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Friends of friends become friends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85800" y="40386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 many popular actors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312920" y="40386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istar / indegree terms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940040" y="40386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actors attract many ties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85800" y="47625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 many active senders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312920" y="47625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ostar / outdegree terms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940040" y="4762500"/>
            <a:ext cx="3627120" cy="72390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 actors send many ties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ERGM intuition: add dependence terms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17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142"/>
                </a:solidFill>
              </a:rPr>
              <a:t>Erdős–Rényi baseline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184708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E6F7E"/>
                </a:solidFill>
              </a:rPr>
              <a:t>logit Pr(Yᵢⱼ = 1) = θ_edges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142"/>
                </a:solidFill>
              </a:rPr>
              <a:t>ERGM extension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51560" y="35661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2E6F7E"/>
                </a:solidFill>
              </a:rPr>
              <a:t>logit Pr(Yᵢⱼ = 1 | Y₋ᵢⱼ) = θ_edges + θ_mutual Δmutualᵢⱼ + θ_closure Δclosureᵢⱼ + …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97280" y="4983480"/>
            <a:ext cx="9966960" cy="777240"/>
          </a:xfrm>
          <a:prstGeom prst="roundRect">
            <a:avLst>
              <a:gd name="adj" fmla="val 9412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61872" y="5093208"/>
            <a:ext cx="963777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changes from “all edges are independent coins” to “tie probability changes when adding the edge would create reciprocity, closure, or other structures.”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turn: Sampson network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3627120" cy="69342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12920" y="1143000"/>
            <a:ext cx="3627120" cy="69342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940040" y="1143000"/>
            <a:ext cx="3627120" cy="693420"/>
          </a:xfrm>
          <a:prstGeom prst="rect">
            <a:avLst/>
          </a:prstGeom>
          <a:solidFill>
            <a:srgbClr val="EAF3F8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Checkpoint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83642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12920" y="183642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Calculate N and p̂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40040" y="183642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you explain what p̂ means?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252984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12920" y="252984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 one directed G(N, p̂) graph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0040" y="252984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its density reasonably close?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2326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12920" y="322326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 500 graphs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940040" y="322326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reference distribution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391668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12920" y="391668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reciprocity, closure, and degree features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940040" y="391668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statistics are poorly reproduced?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461010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312920" y="461010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ERGM terms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40040" y="4610100"/>
            <a:ext cx="3627120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E2E8"/>
            </a:solidFill>
          </a:ln>
        </p:spPr>
        <p:txBody>
          <a:bodyPr wrap="square" lIns="1016" tIns="1016" rIns="1016" bIns="1016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term should address a specific discrepancy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05840" y="5596128"/>
            <a:ext cx="10058400" cy="502920"/>
          </a:xfrm>
          <a:prstGeom prst="roundRect">
            <a:avLst>
              <a:gd name="adj" fmla="val 14545"/>
            </a:avLst>
          </a:prstGeom>
          <a:solidFill>
            <a:srgbClr val="FFF4D8"/>
          </a:solidFill>
          <a:ln w="12700">
            <a:solidFill>
              <a:srgbClr val="C49A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70432" y="5705856"/>
            <a:ext cx="9729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1F2B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specification is not a shopping list. It is a response to what the baseline fails to reproduce.</a:t>
            </a:r>
            <a:endParaRPr lang="en-US" sz="1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12314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1109960" cy="0"/>
          </a:xfrm>
          <a:prstGeom prst="line">
            <a:avLst/>
          </a:prstGeom>
          <a:noFill/>
          <a:ln w="15240">
            <a:solidFill>
              <a:srgbClr val="D7E2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B6C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Network Analysis · Random Graphs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475720" y="6501384"/>
            <a:ext cx="2377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5B6C74"/>
                </a:solidFill>
              </a:rPr>
              <a:t>19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14400" y="1371600"/>
            <a:ext cx="457200" cy="457200"/>
          </a:xfrm>
          <a:prstGeom prst="rect">
            <a:avLst/>
          </a:prstGeom>
          <a:solidFill>
            <a:srgbClr val="2E6F7E"/>
          </a:solidFill>
          <a:ln>
            <a:solidFill>
              <a:srgbClr val="2E6F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00200" y="1389888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B33"/>
                </a:solidFill>
              </a:rPr>
              <a:t>A random graph is a baseline model </a:t>
            </a:r>
            <a:r>
              <a:rPr lang="en-US" sz="2200" b="1">
                <a:solidFill>
                  <a:srgbClr val="1F2B33"/>
                </a:solidFill>
              </a:rPr>
              <a:t>for comparison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423160"/>
            <a:ext cx="457200" cy="457200"/>
          </a:xfrm>
          <a:prstGeom prst="rect">
            <a:avLst/>
          </a:prstGeom>
          <a:solidFill>
            <a:srgbClr val="2E6F7E"/>
          </a:solidFill>
          <a:ln>
            <a:solidFill>
              <a:srgbClr val="2E6F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441448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B33"/>
                </a:solidFill>
              </a:rPr>
              <a:t>G(N, p) matches expected density but assumes equal, independent edge probabilities.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14400" y="3474720"/>
            <a:ext cx="457200" cy="457200"/>
          </a:xfrm>
          <a:prstGeom prst="rect">
            <a:avLst/>
          </a:prstGeom>
          <a:solidFill>
            <a:srgbClr val="2E6F7E"/>
          </a:solidFill>
          <a:ln>
            <a:solidFill>
              <a:srgbClr val="2E6F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00200" y="3493008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B33"/>
                </a:solidFill>
              </a:rPr>
              <a:t>Repeated simulations give a reference distribution for network statistics.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526280"/>
            <a:ext cx="457200" cy="457200"/>
          </a:xfrm>
          <a:prstGeom prst="rect">
            <a:avLst/>
          </a:prstGeom>
          <a:solidFill>
            <a:srgbClr val="2E6F7E"/>
          </a:solidFill>
          <a:ln>
            <a:solidFill>
              <a:srgbClr val="2E6F7E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00200" y="4544568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2B33"/>
                </a:solidFill>
              </a:rPr>
              <a:t>Discrepancies between observed and random networks motivate ERGM terms.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1249</Words>
  <Application>Microsoft Office PowerPoint</Application>
  <PresentationFormat>Widescreen</PresentationFormat>
  <Paragraphs>264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Random Graphs as a Baseline for Network Inference</dc:title>
  <dc:subject>Random graphs and network inference</dc:subject>
  <dc:creator>Olga Chyzh</dc:creator>
  <cp:lastModifiedBy>Olga Chyzh</cp:lastModifiedBy>
  <cp:revision>4</cp:revision>
  <dcterms:created xsi:type="dcterms:W3CDTF">2026-07-17T16:25:05Z</dcterms:created>
  <dcterms:modified xsi:type="dcterms:W3CDTF">2026-07-17T17:03:06Z</dcterms:modified>
</cp:coreProperties>
</file>